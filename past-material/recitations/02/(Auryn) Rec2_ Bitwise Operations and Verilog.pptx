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994B32-6AEE-4B49-A98F-A82C5C9201EB}">
  <a:tblStyle styleId="{70994B32-6AEE-4B49-A98F-A82C5C9201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e75ab5d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e75ab5d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f2c11b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f2c11b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df2c11b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0df2c11b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e75ab5d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e75ab5d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e75ab5d6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e75ab5d6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e75ab5d6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7e75ab5d6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e75ab5d6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7e75ab5d6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df2c11b4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0df2c11b4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df2c11b41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df2c11b4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e75ab5d6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e75ab5d6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28df0bd0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128df0bd0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28df0bd0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28df0bd0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e75ab5d6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e75ab5d6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e75ab5d6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e75ab5d6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P.S. Thank you Kevin - I’m sorry I basically plagiarized your slides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Notes to Self: Slow down, upload slides to Brightspace, only tell them what they CAN do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liplot.nickelp.ro/#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CS-UY 2214: Rec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Operations and Verilog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Operations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Operations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9525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{70994B32-6AEE-4B49-A98F-A82C5C9201EB}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Operations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Logical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Bitwise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&amp;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|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^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" name="Google Shape;68;p15"/>
          <p:cNvSpPr txBox="1"/>
          <p:nvPr/>
        </p:nvSpPr>
        <p:spPr>
          <a:xfrm>
            <a:off x="311700" y="1081125"/>
            <a:ext cx="85206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Logical evaluates to </a:t>
            </a:r>
            <a:r>
              <a:rPr b="1" lang="en" sz="2000"/>
              <a:t>BOOLEAN</a:t>
            </a:r>
            <a:r>
              <a:rPr lang="en" sz="2000"/>
              <a:t> result (True/False)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Bitwise evaluates to </a:t>
            </a:r>
            <a:r>
              <a:rPr b="1" lang="en" sz="2000"/>
              <a:t>NUMERICAL</a:t>
            </a:r>
            <a:r>
              <a:rPr lang="en" sz="2000"/>
              <a:t> result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Operations - Patterns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530450" y="1476100"/>
            <a:ext cx="2883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    </a:t>
            </a:r>
            <a:r>
              <a:rPr lang="en" sz="3500">
                <a:solidFill>
                  <a:schemeClr val="dk1"/>
                </a:solidFill>
              </a:rPr>
              <a:t>0b</a:t>
            </a:r>
            <a:r>
              <a:rPr lang="en" sz="3500"/>
              <a:t>1 0 1 0 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|  </a:t>
            </a:r>
            <a:r>
              <a:rPr lang="en" sz="3500">
                <a:solidFill>
                  <a:schemeClr val="dk1"/>
                </a:solidFill>
              </a:rPr>
              <a:t>0b</a:t>
            </a:r>
            <a:r>
              <a:rPr lang="en" sz="3500"/>
              <a:t>1</a:t>
            </a:r>
            <a:r>
              <a:rPr lang="en" sz="3500"/>
              <a:t> 1 0 0</a:t>
            </a:r>
            <a:r>
              <a:rPr lang="en" sz="2600"/>
              <a:t> </a:t>
            </a:r>
            <a:endParaRPr sz="2600"/>
          </a:p>
        </p:txBody>
      </p:sp>
      <p:cxnSp>
        <p:nvCxnSpPr>
          <p:cNvPr id="75" name="Google Shape;75;p16"/>
          <p:cNvCxnSpPr/>
          <p:nvPr/>
        </p:nvCxnSpPr>
        <p:spPr>
          <a:xfrm>
            <a:off x="3426900" y="2632625"/>
            <a:ext cx="239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6"/>
          <p:cNvSpPr txBox="1"/>
          <p:nvPr/>
        </p:nvSpPr>
        <p:spPr>
          <a:xfrm>
            <a:off x="403300" y="1017725"/>
            <a:ext cx="3203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0b1010 | 0b1100 </a:t>
            </a:r>
            <a:b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10 OR 12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956550" y="2533700"/>
            <a:ext cx="2328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0b1 1 1 0</a:t>
            </a:r>
            <a:endParaRPr sz="3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Operations - Patterns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530450" y="1476100"/>
            <a:ext cx="2883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    </a:t>
            </a:r>
            <a:r>
              <a:rPr lang="en" sz="3500">
                <a:solidFill>
                  <a:schemeClr val="dk1"/>
                </a:solidFill>
              </a:rPr>
              <a:t>0b</a:t>
            </a:r>
            <a:r>
              <a:rPr lang="en" sz="3500"/>
              <a:t>1 0 1 0 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&amp; </a:t>
            </a:r>
            <a:r>
              <a:rPr lang="en" sz="3500">
                <a:solidFill>
                  <a:schemeClr val="dk1"/>
                </a:solidFill>
              </a:rPr>
              <a:t>0b</a:t>
            </a:r>
            <a:r>
              <a:rPr lang="en" sz="3500"/>
              <a:t>1 1 0 0</a:t>
            </a:r>
            <a:r>
              <a:rPr lang="en" sz="2600"/>
              <a:t> </a:t>
            </a:r>
            <a:endParaRPr sz="2600"/>
          </a:p>
        </p:txBody>
      </p:sp>
      <p:cxnSp>
        <p:nvCxnSpPr>
          <p:cNvPr id="84" name="Google Shape;84;p17"/>
          <p:cNvCxnSpPr/>
          <p:nvPr/>
        </p:nvCxnSpPr>
        <p:spPr>
          <a:xfrm>
            <a:off x="3426900" y="2632625"/>
            <a:ext cx="239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7"/>
          <p:cNvSpPr txBox="1"/>
          <p:nvPr/>
        </p:nvSpPr>
        <p:spPr>
          <a:xfrm>
            <a:off x="403300" y="1017725"/>
            <a:ext cx="3203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0b1010 &amp; 0b1100 </a:t>
            </a:r>
            <a:b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10 AND 12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956550" y="2533700"/>
            <a:ext cx="2328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0b1 0 0 0</a:t>
            </a:r>
            <a:endParaRPr sz="3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Operations - Patterns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3530450" y="1476100"/>
            <a:ext cx="2883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    </a:t>
            </a:r>
            <a:r>
              <a:rPr lang="en" sz="3500">
                <a:solidFill>
                  <a:schemeClr val="dk1"/>
                </a:solidFill>
              </a:rPr>
              <a:t>0b</a:t>
            </a:r>
            <a:r>
              <a:rPr lang="en" sz="3500"/>
              <a:t>1 0 1 0 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^  </a:t>
            </a:r>
            <a:r>
              <a:rPr lang="en" sz="3500">
                <a:solidFill>
                  <a:schemeClr val="dk1"/>
                </a:solidFill>
              </a:rPr>
              <a:t>0b</a:t>
            </a:r>
            <a:r>
              <a:rPr lang="en" sz="3500"/>
              <a:t>1 1 0 0</a:t>
            </a:r>
            <a:r>
              <a:rPr lang="en" sz="2600"/>
              <a:t> </a:t>
            </a:r>
            <a:endParaRPr sz="2600"/>
          </a:p>
        </p:txBody>
      </p:sp>
      <p:cxnSp>
        <p:nvCxnSpPr>
          <p:cNvPr id="93" name="Google Shape;93;p18"/>
          <p:cNvCxnSpPr/>
          <p:nvPr/>
        </p:nvCxnSpPr>
        <p:spPr>
          <a:xfrm>
            <a:off x="3426900" y="2632625"/>
            <a:ext cx="239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8"/>
          <p:cNvSpPr txBox="1"/>
          <p:nvPr/>
        </p:nvSpPr>
        <p:spPr>
          <a:xfrm>
            <a:off x="403300" y="1017725"/>
            <a:ext cx="3203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0b1010 ^ 0b1100 </a:t>
            </a:r>
            <a:b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10 XOR 12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3956550" y="2533700"/>
            <a:ext cx="2328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0b0 1 1 0</a:t>
            </a:r>
            <a:endParaRPr sz="3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Operations - Patterns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b="1" lang="en" sz="2000">
                <a:solidFill>
                  <a:srgbClr val="000000"/>
                </a:solidFill>
              </a:rPr>
              <a:t>‘  | 1’ changes bit to 1	</a:t>
            </a:r>
            <a:r>
              <a:rPr lang="en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‘ | 0’ keeps bit the same</a:t>
            </a:r>
            <a:endParaRPr sz="18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b="1" lang="en" sz="2000">
                <a:solidFill>
                  <a:srgbClr val="000000"/>
                </a:solidFill>
              </a:rPr>
              <a:t>‘ &amp; 0’ changes bit to 0</a:t>
            </a:r>
            <a:endParaRPr b="1" sz="20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‘ &amp; 1’ keeps bit the same</a:t>
            </a:r>
            <a:endParaRPr sz="18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b="1" lang="en" sz="2000">
                <a:solidFill>
                  <a:srgbClr val="000000"/>
                </a:solidFill>
              </a:rPr>
              <a:t>‘ ^ 1’ flips value of bit</a:t>
            </a:r>
            <a:endParaRPr b="1" sz="20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‘ ^ 0’ keeps bit the same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 u="sng">
                <a:solidFill>
                  <a:srgbClr val="000000"/>
                </a:solidFill>
              </a:rPr>
              <a:t>Note:</a:t>
            </a:r>
            <a:r>
              <a:rPr lang="en" sz="1800">
                <a:solidFill>
                  <a:srgbClr val="000000"/>
                </a:solidFill>
              </a:rPr>
              <a:t> Any number xor itself is 0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Verilog</a:t>
            </a:r>
            <a:endParaRPr/>
          </a:p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Verilog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Hardware Description Language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‘Assign’ is </a:t>
            </a:r>
            <a:r>
              <a:rPr b="1" i="1" lang="en" sz="2000">
                <a:solidFill>
                  <a:schemeClr val="dk1"/>
                </a:solidFill>
              </a:rPr>
              <a:t>simultaneous</a:t>
            </a:r>
            <a:r>
              <a:rPr lang="en" sz="2000">
                <a:solidFill>
                  <a:schemeClr val="dk1"/>
                </a:solidFill>
              </a:rPr>
              <a:t> rather than </a:t>
            </a:r>
            <a:r>
              <a:rPr b="1" i="1" lang="en" sz="2000">
                <a:solidFill>
                  <a:schemeClr val="dk1"/>
                </a:solidFill>
              </a:rPr>
              <a:t>sequential </a:t>
            </a:r>
            <a:r>
              <a:rPr lang="en" sz="2000">
                <a:solidFill>
                  <a:schemeClr val="dk1"/>
                </a:solidFill>
              </a:rPr>
              <a:t>(C++)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Simulates the behavior of hardware components</a:t>
            </a:r>
            <a:endParaRPr sz="20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797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Verilog - Gates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25" y="1124850"/>
            <a:ext cx="350520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/>
          <p:nvPr/>
        </p:nvSpPr>
        <p:spPr>
          <a:xfrm>
            <a:off x="1298275" y="3815750"/>
            <a:ext cx="1805100" cy="5217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/>
          <p:nvPr/>
        </p:nvSpPr>
        <p:spPr>
          <a:xfrm>
            <a:off x="5280250" y="1420650"/>
            <a:ext cx="2796000" cy="2302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4619275" y="1504300"/>
            <a:ext cx="2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4619275" y="1904500"/>
            <a:ext cx="2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4619275" y="2986625"/>
            <a:ext cx="2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8283175" y="1904500"/>
            <a:ext cx="2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8283175" y="2304700"/>
            <a:ext cx="2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27" name="Google Shape;127;p22"/>
          <p:cNvCxnSpPr/>
          <p:nvPr/>
        </p:nvCxnSpPr>
        <p:spPr>
          <a:xfrm>
            <a:off x="4909400" y="1698900"/>
            <a:ext cx="621900" cy="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2"/>
          <p:cNvCxnSpPr/>
          <p:nvPr/>
        </p:nvCxnSpPr>
        <p:spPr>
          <a:xfrm flipH="1" rot="10800000">
            <a:off x="4909400" y="2100100"/>
            <a:ext cx="615300" cy="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2"/>
          <p:cNvCxnSpPr>
            <a:stCxn id="124" idx="3"/>
            <a:endCxn id="130" idx="2"/>
          </p:cNvCxnSpPr>
          <p:nvPr/>
        </p:nvCxnSpPr>
        <p:spPr>
          <a:xfrm>
            <a:off x="4892875" y="3186725"/>
            <a:ext cx="64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2"/>
          <p:cNvCxnSpPr/>
          <p:nvPr/>
        </p:nvCxnSpPr>
        <p:spPr>
          <a:xfrm>
            <a:off x="7674475" y="2504800"/>
            <a:ext cx="60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2"/>
          <p:cNvCxnSpPr/>
          <p:nvPr/>
        </p:nvCxnSpPr>
        <p:spPr>
          <a:xfrm>
            <a:off x="7674475" y="2104600"/>
            <a:ext cx="60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2"/>
          <p:cNvSpPr/>
          <p:nvPr/>
        </p:nvSpPr>
        <p:spPr>
          <a:xfrm>
            <a:off x="6514750" y="1866100"/>
            <a:ext cx="66900" cy="66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22"/>
          <p:cNvCxnSpPr>
            <a:endCxn id="133" idx="0"/>
          </p:cNvCxnSpPr>
          <p:nvPr/>
        </p:nvCxnSpPr>
        <p:spPr>
          <a:xfrm flipH="1">
            <a:off x="6548200" y="1699000"/>
            <a:ext cx="46800" cy="16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5" name="Google Shape;135;p22"/>
          <p:cNvSpPr txBox="1"/>
          <p:nvPr/>
        </p:nvSpPr>
        <p:spPr>
          <a:xfrm>
            <a:off x="6421100" y="1420650"/>
            <a:ext cx="60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w1</a:t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5536750" y="1638700"/>
            <a:ext cx="515100" cy="521700"/>
          </a:xfrm>
          <a:prstGeom prst="flowChartDelay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22"/>
          <p:cNvCxnSpPr>
            <a:stCxn id="136" idx="3"/>
            <a:endCxn id="133" idx="2"/>
          </p:cNvCxnSpPr>
          <p:nvPr/>
        </p:nvCxnSpPr>
        <p:spPr>
          <a:xfrm>
            <a:off x="6051850" y="1899550"/>
            <a:ext cx="46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22"/>
          <p:cNvSpPr/>
          <p:nvPr/>
        </p:nvSpPr>
        <p:spPr>
          <a:xfrm rot="5400000">
            <a:off x="5520025" y="3012825"/>
            <a:ext cx="381250" cy="347800"/>
          </a:xfrm>
          <a:prstGeom prst="flowChartExtra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5884550" y="3153275"/>
            <a:ext cx="66900" cy="66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22"/>
          <p:cNvCxnSpPr>
            <a:stCxn id="138" idx="6"/>
          </p:cNvCxnSpPr>
          <p:nvPr/>
        </p:nvCxnSpPr>
        <p:spPr>
          <a:xfrm>
            <a:off x="5951450" y="3186725"/>
            <a:ext cx="1734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2"/>
          <p:cNvCxnSpPr/>
          <p:nvPr/>
        </p:nvCxnSpPr>
        <p:spPr>
          <a:xfrm rot="10800000">
            <a:off x="7674200" y="2513450"/>
            <a:ext cx="0" cy="68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2"/>
          <p:cNvSpPr/>
          <p:nvPr/>
        </p:nvSpPr>
        <p:spPr>
          <a:xfrm>
            <a:off x="7070450" y="1820850"/>
            <a:ext cx="589200" cy="491700"/>
          </a:xfrm>
          <a:prstGeom prst="flowChartDelay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7191650" y="1821000"/>
            <a:ext cx="198000" cy="491700"/>
          </a:xfrm>
          <a:prstGeom prst="flowChartConnector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7029800" y="1789700"/>
            <a:ext cx="273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" name="Google Shape;144;p22"/>
          <p:cNvCxnSpPr>
            <a:endCxn id="142" idx="7"/>
          </p:cNvCxnSpPr>
          <p:nvPr/>
        </p:nvCxnSpPr>
        <p:spPr>
          <a:xfrm>
            <a:off x="6575554" y="1887908"/>
            <a:ext cx="785100" cy="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2"/>
          <p:cNvCxnSpPr/>
          <p:nvPr/>
        </p:nvCxnSpPr>
        <p:spPr>
          <a:xfrm rot="10800000">
            <a:off x="6879350" y="2238500"/>
            <a:ext cx="2100" cy="95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2"/>
          <p:cNvCxnSpPr>
            <a:endCxn id="142" idx="5"/>
          </p:cNvCxnSpPr>
          <p:nvPr/>
        </p:nvCxnSpPr>
        <p:spPr>
          <a:xfrm>
            <a:off x="6888154" y="2240692"/>
            <a:ext cx="47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2"/>
          <p:cNvSpPr txBox="1"/>
          <p:nvPr/>
        </p:nvSpPr>
        <p:spPr>
          <a:xfrm>
            <a:off x="7191650" y="1724850"/>
            <a:ext cx="608700" cy="6837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288600" y="3166900"/>
            <a:ext cx="1805100" cy="491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5438350" y="2904825"/>
            <a:ext cx="608700" cy="572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1288600" y="2468000"/>
            <a:ext cx="1805100" cy="521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5401738" y="1507600"/>
            <a:ext cx="785100" cy="78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Verilog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311700" y="1152475"/>
            <a:ext cx="856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Make sure terminal is in the same folder as file you want to run (</a:t>
            </a:r>
            <a:r>
              <a:rPr i="1" lang="en" sz="2000">
                <a:solidFill>
                  <a:schemeClr val="dk1"/>
                </a:solidFill>
              </a:rPr>
              <a:t>cd *folder_name*</a:t>
            </a:r>
            <a:r>
              <a:rPr lang="en" sz="2000">
                <a:solidFill>
                  <a:schemeClr val="dk1"/>
                </a:solidFill>
              </a:rPr>
              <a:t>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dk1"/>
                </a:solidFill>
              </a:rPr>
              <a:t>Build:</a:t>
            </a:r>
            <a:endParaRPr sz="20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iverilog -o test.vvp test_tb.v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dk1"/>
                </a:solidFill>
              </a:rPr>
              <a:t>Run:</a:t>
            </a:r>
            <a:endParaRPr sz="20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vvp test.vvp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Waveforms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Visual for all outputs based on all input combinations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HIGH = ON / 1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LOW = OFF / 0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GTKWave </a:t>
            </a:r>
            <a:r>
              <a:rPr lang="en" sz="2000">
                <a:solidFill>
                  <a:schemeClr val="dk1"/>
                </a:solidFill>
              </a:rPr>
              <a:t>(Requires Vital, VirtualBox, or Anubis Webtop) or Fliplot (Web-Based): </a:t>
            </a:r>
            <a:r>
              <a:rPr lang="en" sz="20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https://fliplot.nickelp.ro/#</a:t>
            </a:r>
            <a:r>
              <a:rPr lang="en" sz="2000">
                <a:solidFill>
                  <a:srgbClr val="9FC5E8"/>
                </a:solidFill>
              </a:rPr>
              <a:t> </a:t>
            </a:r>
            <a:endParaRPr sz="2000">
              <a:solidFill>
                <a:srgbClr val="9FC5E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You could write your files in Anubis (NOT WEBTOP) and then run them in Anubis Webtop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 rotWithShape="1">
          <a:blip r:embed="rId4">
            <a:alphaModFix/>
          </a:blip>
          <a:srcRect b="0" l="6820" r="0" t="45271"/>
          <a:stretch/>
        </p:blipFill>
        <p:spPr>
          <a:xfrm>
            <a:off x="311700" y="3621650"/>
            <a:ext cx="8520600" cy="9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Verilog - Arrays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1152475"/>
            <a:ext cx="856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Multibit values can be viewed as array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Can separately access each bit for expressions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825" y="1598363"/>
            <a:ext cx="50482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825" y="3095950"/>
            <a:ext cx="53149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Verilog - Conditional Operator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311700" y="1786550"/>
            <a:ext cx="8560800" cy="27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Similar to if-else statements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Conditi</a:t>
            </a:r>
            <a:r>
              <a:rPr lang="en" sz="1600">
                <a:solidFill>
                  <a:schemeClr val="dk1"/>
                </a:solidFill>
              </a:rPr>
              <a:t>on evaluates to 1 -&gt; True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Condition evaluates to 0 -&gt; False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Can nest conditional statements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Ex. “condition1 ? iftrue1 : condition2 ? iftrue2 : iffalse”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050" y="1017725"/>
            <a:ext cx="46101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 rotWithShape="1">
          <a:blip r:embed="rId4">
            <a:alphaModFix/>
          </a:blip>
          <a:srcRect b="0" l="0" r="22414" t="0"/>
          <a:stretch/>
        </p:blipFill>
        <p:spPr>
          <a:xfrm>
            <a:off x="2128325" y="3488175"/>
            <a:ext cx="4927549" cy="13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Luck! :)</a:t>
            </a:r>
            <a:endParaRPr/>
          </a:p>
        </p:txBody>
      </p:sp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(Feel free to ask for help anytime)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