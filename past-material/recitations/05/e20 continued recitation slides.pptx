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88997df67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88997df67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86a975649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86a975649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8e06061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88e06061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886a975649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886a975649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8e060612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8e060612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86a975649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86a975649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8e06061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8e06061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</a:t>
            </a:r>
            <a:r>
              <a:rPr lang="en"/>
              <a:t> on e20!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Labels!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Labels are n</a:t>
            </a:r>
            <a:r>
              <a:rPr lang="en"/>
              <a:t>ames we give to addresses in memory → we can use them as immediate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of a label is the memory address where it is defined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value of beginning? What about done?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would we use these instead of the numeric address of an instruction?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563" y="2130475"/>
            <a:ext cx="587692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Word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700">
                <a:solidFill>
                  <a:schemeClr val="dk1"/>
                </a:solidFill>
              </a:rPr>
              <a:t>Move value </a:t>
            </a:r>
            <a:r>
              <a:rPr b="1" lang="en" sz="1700">
                <a:solidFill>
                  <a:schemeClr val="dk1"/>
                </a:solidFill>
              </a:rPr>
              <a:t>from memory address</a:t>
            </a:r>
            <a:r>
              <a:rPr lang="en" sz="1700">
                <a:solidFill>
                  <a:schemeClr val="dk1"/>
                </a:solidFill>
              </a:rPr>
              <a:t> imm+regAddr </a:t>
            </a:r>
            <a:r>
              <a:rPr b="1" lang="en" sz="1700">
                <a:solidFill>
                  <a:schemeClr val="dk1"/>
                </a:solidFill>
              </a:rPr>
              <a:t>into destination register</a:t>
            </a:r>
            <a:endParaRPr b="1" sz="2100">
              <a:solidFill>
                <a:schemeClr val="dk1"/>
              </a:solidFill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744914" y="1741860"/>
            <a:ext cx="7654181" cy="3277281"/>
            <a:chOff x="1260600" y="2586300"/>
            <a:chExt cx="7038975" cy="2693139"/>
          </a:xfrm>
        </p:grpSpPr>
        <p:pic>
          <p:nvPicPr>
            <p:cNvPr id="69" name="Google Shape;6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60600" y="2586300"/>
              <a:ext cx="6622800" cy="1417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5"/>
            <p:cNvPicPr preferRelativeResize="0"/>
            <p:nvPr/>
          </p:nvPicPr>
          <p:blipFill rotWithShape="1">
            <a:blip r:embed="rId4">
              <a:alphaModFix/>
            </a:blip>
            <a:srcRect b="0" l="0" r="0" t="3288"/>
            <a:stretch/>
          </p:blipFill>
          <p:spPr>
            <a:xfrm>
              <a:off x="1260600" y="3962164"/>
              <a:ext cx="7038975" cy="13172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15"/>
          <p:cNvSpPr/>
          <p:nvPr/>
        </p:nvSpPr>
        <p:spPr>
          <a:xfrm>
            <a:off x="744900" y="1741900"/>
            <a:ext cx="7654200" cy="327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5168825" y="1661250"/>
            <a:ext cx="2723100" cy="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4294967295" type="body"/>
          </p:nvPr>
        </p:nvSpPr>
        <p:spPr>
          <a:xfrm>
            <a:off x="311700" y="2380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700">
                <a:solidFill>
                  <a:schemeClr val="dk1"/>
                </a:solidFill>
              </a:rPr>
              <a:t>Move value </a:t>
            </a:r>
            <a:r>
              <a:rPr b="1" lang="en" sz="1700">
                <a:solidFill>
                  <a:schemeClr val="dk1"/>
                </a:solidFill>
              </a:rPr>
              <a:t>from memory address</a:t>
            </a:r>
            <a:r>
              <a:rPr lang="en" sz="1700">
                <a:solidFill>
                  <a:schemeClr val="dk1"/>
                </a:solidFill>
              </a:rPr>
              <a:t> imm+regAddr </a:t>
            </a:r>
            <a:r>
              <a:rPr b="1" lang="en" sz="1700">
                <a:solidFill>
                  <a:schemeClr val="dk1"/>
                </a:solidFill>
              </a:rPr>
              <a:t>into destination register</a:t>
            </a:r>
            <a:endParaRPr b="1" sz="2100">
              <a:solidFill>
                <a:schemeClr val="dk1"/>
              </a:solidFill>
            </a:endParaRPr>
          </a:p>
        </p:txBody>
      </p:sp>
      <p:grpSp>
        <p:nvGrpSpPr>
          <p:cNvPr id="78" name="Google Shape;78;p16"/>
          <p:cNvGrpSpPr/>
          <p:nvPr/>
        </p:nvGrpSpPr>
        <p:grpSpPr>
          <a:xfrm>
            <a:off x="782133" y="785604"/>
            <a:ext cx="7434558" cy="4281611"/>
            <a:chOff x="1471772" y="1170406"/>
            <a:chExt cx="5860443" cy="3410555"/>
          </a:xfrm>
        </p:grpSpPr>
        <p:pic>
          <p:nvPicPr>
            <p:cNvPr id="79" name="Google Shape;7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908" y="1170406"/>
              <a:ext cx="2648396" cy="18439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26223" y="1447648"/>
              <a:ext cx="2905992" cy="1566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71772" y="3014297"/>
              <a:ext cx="3003268" cy="1566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75042" y="3014297"/>
              <a:ext cx="2857173" cy="15666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16"/>
          <p:cNvSpPr/>
          <p:nvPr/>
        </p:nvSpPr>
        <p:spPr>
          <a:xfrm>
            <a:off x="825250" y="781800"/>
            <a:ext cx="7521000" cy="428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825250" y="785619"/>
            <a:ext cx="3746700" cy="230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572000" y="785625"/>
            <a:ext cx="3774300" cy="230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825250" y="3090824"/>
            <a:ext cx="3746700" cy="197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 Word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</a:t>
            </a:r>
            <a:r>
              <a:rPr lang="en"/>
              <a:t>value </a:t>
            </a:r>
            <a:r>
              <a:rPr b="1" lang="en"/>
              <a:t>from source register</a:t>
            </a:r>
            <a:r>
              <a:rPr lang="en"/>
              <a:t> </a:t>
            </a:r>
            <a:r>
              <a:rPr b="1" lang="en"/>
              <a:t>into memory address</a:t>
            </a:r>
            <a:r>
              <a:rPr lang="en"/>
              <a:t> imm+regAddr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88" y="1856225"/>
            <a:ext cx="8077025" cy="29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533500" y="1753350"/>
            <a:ext cx="8298900" cy="307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8"/>
          <p:cNvGrpSpPr/>
          <p:nvPr/>
        </p:nvGrpSpPr>
        <p:grpSpPr>
          <a:xfrm>
            <a:off x="1080925" y="739900"/>
            <a:ext cx="6837055" cy="4292575"/>
            <a:chOff x="776125" y="739900"/>
            <a:chExt cx="6837055" cy="4292575"/>
          </a:xfrm>
        </p:grpSpPr>
        <p:pic>
          <p:nvPicPr>
            <p:cNvPr id="100" name="Google Shape;100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6125" y="739900"/>
              <a:ext cx="3025751" cy="2156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22825" y="739900"/>
              <a:ext cx="3090355" cy="215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6125" y="2872166"/>
              <a:ext cx="3025749" cy="21493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22825" y="2871206"/>
              <a:ext cx="3025750" cy="21612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8"/>
          <p:cNvSpPr/>
          <p:nvPr/>
        </p:nvSpPr>
        <p:spPr>
          <a:xfrm>
            <a:off x="776125" y="736075"/>
            <a:ext cx="7521000" cy="428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244600"/>
            <a:ext cx="8520600" cy="43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value </a:t>
            </a:r>
            <a:r>
              <a:rPr b="1" lang="en"/>
              <a:t>from source register</a:t>
            </a:r>
            <a:r>
              <a:rPr lang="en"/>
              <a:t> </a:t>
            </a:r>
            <a:r>
              <a:rPr b="1" lang="en"/>
              <a:t>into memory address</a:t>
            </a:r>
            <a:r>
              <a:rPr lang="en"/>
              <a:t> imm+regAddr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776125" y="739900"/>
            <a:ext cx="3746700" cy="215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4522875" y="739900"/>
            <a:ext cx="3774300" cy="215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776125" y="2896350"/>
            <a:ext cx="3746700" cy="212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.fill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.fill is an assembler directive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Commands </a:t>
            </a:r>
            <a:r>
              <a:rPr lang="en"/>
              <a:t>to assembler, not processor instructions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instruction is converted to machine code using the assembler, the immediate value is stored in the memory location as a 16-bit binary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9"/>
          <p:cNvGrpSpPr/>
          <p:nvPr/>
        </p:nvGrpSpPr>
        <p:grpSpPr>
          <a:xfrm>
            <a:off x="311610" y="2435368"/>
            <a:ext cx="8520791" cy="2633533"/>
            <a:chOff x="424825" y="1674050"/>
            <a:chExt cx="8294355" cy="3135905"/>
          </a:xfrm>
        </p:grpSpPr>
        <p:pic>
          <p:nvPicPr>
            <p:cNvPr id="116" name="Google Shape;116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4825" y="1674050"/>
              <a:ext cx="8294350" cy="1469025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7" name="Google Shape;117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4830" y="3189220"/>
              <a:ext cx="8294350" cy="16207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 with labels, lw, sw, and .fill</a:t>
            </a:r>
            <a:endParaRPr/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50" y="1017725"/>
            <a:ext cx="7287899" cy="39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253750" y="1101800"/>
            <a:ext cx="7314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ram[0]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ram[1]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ram[2]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ram[3]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ram[4]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00FF"/>
                </a:solidFill>
              </a:rPr>
              <a:t>ram[5]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00FF"/>
                </a:solidFill>
              </a:rPr>
              <a:t>ram[6]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ram[7]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ram[8]</a:t>
            </a:r>
            <a:endParaRPr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