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309E2B8-AD7B-4689-9E6C-5E0CD687F27B}">
  <a:tblStyle styleId="{3309E2B8-AD7B-4689-9E6C-5E0CD687F27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21" Type="http://schemas.openxmlformats.org/officeDocument/2006/relationships/slide" Target="slides/slide15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862ea89929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862ea89929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285c8d4ddd8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285c8d4ddd8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85c8d4ddd8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85c8d4ddd8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285f442eceb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285f442eceb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285f442eceb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285f442eceb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285f442eceb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285f442eceb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285f442eceb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285f442eceb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85c8d4ddd8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285c8d4ddd8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285f442eceb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285f442eceb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285c8d4ddd8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285c8d4ddd8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285f442eceb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285f442eceb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285f442eceb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285f442eceb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285f442eceb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285f442eceb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06056ea65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06056ea65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CS-UY 2214: Rec 4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E20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E20</a:t>
            </a:r>
            <a:endParaRPr b="1"/>
          </a:p>
        </p:txBody>
      </p:sp>
      <p:sp>
        <p:nvSpPr>
          <p:cNvPr id="61" name="Google Shape;61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dk1"/>
                </a:solidFill>
                <a:highlight>
                  <a:srgbClr val="00FFFF"/>
                </a:highlight>
              </a:rPr>
              <a:t>(Related sections in E20 Manual highlighted in blue!)</a:t>
            </a:r>
            <a:endParaRPr u="sng">
              <a:solidFill>
                <a:schemeClr val="dk1"/>
              </a:solidFill>
              <a:highlight>
                <a:srgbClr val="00FFFF"/>
              </a:highlight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E15 vs. E20	</a:t>
            </a:r>
            <a:r>
              <a:rPr lang="en" sz="2000" u="sng">
                <a:highlight>
                  <a:srgbClr val="00FFFF"/>
                </a:highlight>
              </a:rPr>
              <a:t>(Section 2.6: ‘</a:t>
            </a:r>
            <a:r>
              <a:rPr i="1" lang="en" sz="2000" u="sng">
                <a:highlight>
                  <a:srgbClr val="00FFFF"/>
                </a:highlight>
              </a:rPr>
              <a:t>E15 vs. E20</a:t>
            </a:r>
            <a:r>
              <a:rPr lang="en" sz="2000" u="sng">
                <a:highlight>
                  <a:srgbClr val="00FFFF"/>
                </a:highlight>
              </a:rPr>
              <a:t>’</a:t>
            </a:r>
            <a:r>
              <a:rPr i="1" lang="en" sz="2000" u="sng">
                <a:highlight>
                  <a:srgbClr val="00FFFF"/>
                </a:highlight>
              </a:rPr>
              <a:t> </a:t>
            </a:r>
            <a:r>
              <a:rPr lang="en" sz="2000" u="sng">
                <a:highlight>
                  <a:srgbClr val="00FFFF"/>
                </a:highlight>
              </a:rPr>
              <a:t>)</a:t>
            </a:r>
            <a:endParaRPr b="1" sz="2000"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8" name="Google Shape;68;p15"/>
          <p:cNvPicPr preferRelativeResize="0"/>
          <p:nvPr/>
        </p:nvPicPr>
        <p:blipFill rotWithShape="1">
          <a:blip r:embed="rId3">
            <a:alphaModFix/>
          </a:blip>
          <a:srcRect b="13262" l="6368" r="7683" t="0"/>
          <a:stretch/>
        </p:blipFill>
        <p:spPr>
          <a:xfrm>
            <a:off x="0" y="1018790"/>
            <a:ext cx="4761649" cy="3356484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5"/>
          <p:cNvPicPr preferRelativeResize="0"/>
          <p:nvPr/>
        </p:nvPicPr>
        <p:blipFill rotWithShape="1">
          <a:blip r:embed="rId4">
            <a:alphaModFix/>
          </a:blip>
          <a:srcRect b="13028" l="6377" r="7318" t="0"/>
          <a:stretch/>
        </p:blipFill>
        <p:spPr>
          <a:xfrm>
            <a:off x="4448000" y="1047350"/>
            <a:ext cx="4761649" cy="33279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E20 Basics	</a:t>
            </a:r>
            <a:r>
              <a:rPr lang="en" sz="2000" u="sng">
                <a:highlight>
                  <a:srgbClr val="00FFFF"/>
                </a:highlight>
              </a:rPr>
              <a:t>(Section 2: ‘</a:t>
            </a:r>
            <a:r>
              <a:rPr i="1" lang="en" sz="2000" u="sng">
                <a:highlight>
                  <a:srgbClr val="00FFFF"/>
                </a:highlight>
              </a:rPr>
              <a:t>Architecture’ </a:t>
            </a:r>
            <a:r>
              <a:rPr lang="en" sz="2000" u="sng">
                <a:highlight>
                  <a:srgbClr val="00FFFF"/>
                </a:highlight>
              </a:rPr>
              <a:t>)</a:t>
            </a:r>
            <a:r>
              <a:rPr lang="en"/>
              <a:t> </a:t>
            </a:r>
            <a:endParaRPr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2571750"/>
            <a:ext cx="8520600" cy="246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Sizes: </a:t>
            </a:r>
            <a:endParaRPr sz="20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" sz="1600">
                <a:solidFill>
                  <a:schemeClr val="dk1"/>
                </a:solidFill>
              </a:rPr>
              <a:t>Memory Addresses = 16 bits 	&lt;-	</a:t>
            </a:r>
            <a:r>
              <a:rPr i="1" lang="en" sz="1600">
                <a:solidFill>
                  <a:schemeClr val="dk1"/>
                </a:solidFill>
              </a:rPr>
              <a:t>(but we only use the 13 LSBs)</a:t>
            </a:r>
            <a:endParaRPr i="1" sz="1600">
              <a:solidFill>
                <a:schemeClr val="dk1"/>
              </a:solidFill>
            </a:endParaRPr>
          </a:p>
          <a:p>
            <a:pPr indent="-3302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</a:pPr>
            <a:r>
              <a:rPr lang="en" sz="1600">
                <a:solidFill>
                  <a:schemeClr val="dk1"/>
                </a:solidFill>
              </a:rPr>
              <a:t>Memory Cell = 16 bits	&lt;-	contains instructions/data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" sz="1600">
                <a:solidFill>
                  <a:schemeClr val="dk1"/>
                </a:solidFill>
              </a:rPr>
              <a:t>Registers &amp; PC = 16 bits</a:t>
            </a:r>
            <a:endParaRPr sz="16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8 Registers</a:t>
            </a:r>
            <a:endParaRPr sz="20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" sz="1600">
                <a:solidFill>
                  <a:schemeClr val="dk1"/>
                </a:solidFill>
              </a:rPr>
              <a:t>$0 stores 0 and is </a:t>
            </a:r>
            <a:r>
              <a:rPr i="1" lang="en" sz="1600">
                <a:solidFill>
                  <a:schemeClr val="dk1"/>
                </a:solidFill>
              </a:rPr>
              <a:t>read-only</a:t>
            </a:r>
            <a:r>
              <a:rPr lang="en" sz="1600">
                <a:solidFill>
                  <a:schemeClr val="dk1"/>
                </a:solidFill>
              </a:rPr>
              <a:t> (can write to $0 but it won’t save anything)</a:t>
            </a:r>
            <a:endParaRPr sz="16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Cells not containing instructions/data are 0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6" name="Google Shape;76;p16"/>
          <p:cNvPicPr preferRelativeResize="0"/>
          <p:nvPr/>
        </p:nvPicPr>
        <p:blipFill rotWithShape="1">
          <a:blip r:embed="rId3">
            <a:alphaModFix/>
          </a:blip>
          <a:srcRect b="11496" l="0" r="0" t="13703"/>
          <a:stretch/>
        </p:blipFill>
        <p:spPr>
          <a:xfrm>
            <a:off x="942975" y="1089838"/>
            <a:ext cx="7258050" cy="1481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E20 Instructions	</a:t>
            </a:r>
            <a:r>
              <a:rPr lang="en" sz="2000" u="sng">
                <a:highlight>
                  <a:srgbClr val="00FFFF"/>
                </a:highlight>
              </a:rPr>
              <a:t>(Section 3: ‘</a:t>
            </a:r>
            <a:r>
              <a:rPr i="1" lang="en" sz="2000" u="sng">
                <a:highlight>
                  <a:srgbClr val="00FFFF"/>
                </a:highlight>
              </a:rPr>
              <a:t>Instruction Set’ </a:t>
            </a:r>
            <a:r>
              <a:rPr lang="en" sz="2000" u="sng">
                <a:highlight>
                  <a:srgbClr val="00FFFF"/>
                </a:highlight>
              </a:rPr>
              <a:t>)</a:t>
            </a:r>
            <a:endParaRPr b="1" sz="2000"/>
          </a:p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Unlike E15, instructions in E20 encoded differently depending on number of register arguments: 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</p:txBody>
      </p:sp>
      <p:pic>
        <p:nvPicPr>
          <p:cNvPr id="83" name="Google Shape;83;p17"/>
          <p:cNvPicPr preferRelativeResize="0"/>
          <p:nvPr/>
        </p:nvPicPr>
        <p:blipFill rotWithShape="1">
          <a:blip r:embed="rId3">
            <a:alphaModFix/>
          </a:blip>
          <a:srcRect b="3253" l="2911" r="3779" t="2156"/>
          <a:stretch/>
        </p:blipFill>
        <p:spPr>
          <a:xfrm>
            <a:off x="446251" y="1960350"/>
            <a:ext cx="4671092" cy="2608526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7"/>
          <p:cNvSpPr txBox="1"/>
          <p:nvPr/>
        </p:nvSpPr>
        <p:spPr>
          <a:xfrm>
            <a:off x="5396050" y="2571750"/>
            <a:ext cx="3375900" cy="11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0000"/>
                </a:solidFill>
              </a:rPr>
              <a:t>&lt;- NOT CONSISTENT LIKE THIS!</a:t>
            </a:r>
            <a:endParaRPr b="1" sz="24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E20 Instructions</a:t>
            </a:r>
            <a:r>
              <a:rPr lang="en"/>
              <a:t>	</a:t>
            </a:r>
            <a:r>
              <a:rPr lang="en" sz="2000" u="sng">
                <a:highlight>
                  <a:srgbClr val="00FFFF"/>
                </a:highlight>
              </a:rPr>
              <a:t>(</a:t>
            </a:r>
            <a:r>
              <a:rPr lang="en" sz="2000" u="sng">
                <a:highlight>
                  <a:srgbClr val="00FFFF"/>
                </a:highlight>
              </a:rPr>
              <a:t>Section 3: ‘</a:t>
            </a:r>
            <a:r>
              <a:rPr i="1" lang="en" sz="2000" u="sng">
                <a:highlight>
                  <a:srgbClr val="00FFFF"/>
                </a:highlight>
              </a:rPr>
              <a:t>Instruction Set’ </a:t>
            </a:r>
            <a:r>
              <a:rPr lang="en" sz="2000" u="sng">
                <a:highlight>
                  <a:srgbClr val="00FFFF"/>
                </a:highlight>
              </a:rPr>
              <a:t>)</a:t>
            </a:r>
            <a:endParaRPr sz="2000"/>
          </a:p>
        </p:txBody>
      </p:sp>
      <p:pic>
        <p:nvPicPr>
          <p:cNvPr id="90" name="Google Shape;90;p18"/>
          <p:cNvPicPr preferRelativeResize="0"/>
          <p:nvPr/>
        </p:nvPicPr>
        <p:blipFill rotWithShape="1">
          <a:blip r:embed="rId3">
            <a:alphaModFix/>
          </a:blip>
          <a:srcRect b="6748" l="0" r="3605" t="4457"/>
          <a:stretch/>
        </p:blipFill>
        <p:spPr>
          <a:xfrm>
            <a:off x="434025" y="1306950"/>
            <a:ext cx="8520600" cy="19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8"/>
          <p:cNvSpPr txBox="1"/>
          <p:nvPr/>
        </p:nvSpPr>
        <p:spPr>
          <a:xfrm>
            <a:off x="1490625" y="2113575"/>
            <a:ext cx="6407400" cy="7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8"/>
          <p:cNvSpPr txBox="1"/>
          <p:nvPr/>
        </p:nvSpPr>
        <p:spPr>
          <a:xfrm>
            <a:off x="434025" y="3832050"/>
            <a:ext cx="8398500" cy="9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rgbClr val="FF0000"/>
                </a:solidFill>
              </a:rPr>
              <a:t>NOTICE DIFFERENCE IN ORDER OF ARGUMENTS BETWEEN ASSEMBLY LANGUAGE AND MACHINE CODE!!</a:t>
            </a:r>
            <a:endParaRPr b="1" sz="2300">
              <a:solidFill>
                <a:srgbClr val="FF0000"/>
              </a:solidFill>
            </a:endParaRPr>
          </a:p>
        </p:txBody>
      </p:sp>
      <p:sp>
        <p:nvSpPr>
          <p:cNvPr id="93" name="Google Shape;93;p18"/>
          <p:cNvSpPr txBox="1"/>
          <p:nvPr/>
        </p:nvSpPr>
        <p:spPr>
          <a:xfrm>
            <a:off x="544875" y="3259350"/>
            <a:ext cx="8298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highlight>
                <a:srgbClr val="00FFFF"/>
              </a:highlight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E20 Instructions</a:t>
            </a:r>
            <a:r>
              <a:rPr b="1" lang="en" sz="2000"/>
              <a:t>	</a:t>
            </a:r>
            <a:r>
              <a:rPr lang="en" sz="2000" u="sng">
                <a:highlight>
                  <a:srgbClr val="00FFFF"/>
                </a:highlight>
              </a:rPr>
              <a:t>(Section 2.6: </a:t>
            </a:r>
            <a:r>
              <a:rPr i="1" lang="en" sz="2000" u="sng">
                <a:highlight>
                  <a:srgbClr val="00FFFF"/>
                </a:highlight>
              </a:rPr>
              <a:t>‘E15 vs. E20’ </a:t>
            </a:r>
            <a:r>
              <a:rPr lang="en" sz="2000" u="sng">
                <a:highlight>
                  <a:srgbClr val="00FFFF"/>
                </a:highlight>
              </a:rPr>
              <a:t>)</a:t>
            </a:r>
            <a:endParaRPr sz="2000"/>
          </a:p>
        </p:txBody>
      </p:sp>
      <p:sp>
        <p:nvSpPr>
          <p:cNvPr id="99" name="Google Shape;99;p19"/>
          <p:cNvSpPr txBox="1"/>
          <p:nvPr/>
        </p:nvSpPr>
        <p:spPr>
          <a:xfrm>
            <a:off x="311700" y="1017725"/>
            <a:ext cx="8520600" cy="38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 sz="1800"/>
              <a:t>Three Instruction formats</a:t>
            </a:r>
            <a:r>
              <a:rPr lang="en" sz="1800"/>
              <a:t>:</a:t>
            </a:r>
            <a:endParaRPr sz="18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00" name="Google Shape;100;p19"/>
          <p:cNvGraphicFramePr/>
          <p:nvPr/>
        </p:nvGraphicFramePr>
        <p:xfrm>
          <a:off x="696675" y="1576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{3309E2B8-AD7B-4689-9E6C-5E0CD687F27B}</a:tableStyleId>
              </a:tblPr>
              <a:tblGrid>
                <a:gridCol w="2583550"/>
                <a:gridCol w="2583550"/>
                <a:gridCol w="2583550"/>
              </a:tblGrid>
              <a:tr h="845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chemeClr val="dk1"/>
                          </a:solidFill>
                        </a:rPr>
                        <a:t>3 Register Arguments</a:t>
                      </a:r>
                      <a:endParaRPr b="1" sz="15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chemeClr val="dk1"/>
                          </a:solidFill>
                        </a:rPr>
                        <a:t>2 Register Arguments</a:t>
                      </a:r>
                      <a:endParaRPr b="1" sz="15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chemeClr val="dk1"/>
                          </a:solidFill>
                        </a:rPr>
                        <a:t>No Register Arguments</a:t>
                      </a:r>
                      <a:endParaRPr b="1" sz="15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45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</a:rPr>
                        <a:t>3-bit “Opcode”</a:t>
                      </a:r>
                      <a:endParaRPr sz="15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</a:rPr>
                        <a:t>3-bit Opcode</a:t>
                      </a:r>
                      <a:endParaRPr sz="15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</a:rPr>
                        <a:t>3-bit Opcode</a:t>
                      </a:r>
                      <a:endParaRPr sz="15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45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</a:rPr>
                        <a:t>Three 3-bit reg fields</a:t>
                      </a:r>
                      <a:endParaRPr sz="15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</a:rPr>
                        <a:t>Two 3-bit reg fields</a:t>
                      </a:r>
                      <a:endParaRPr sz="15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</a:rPr>
                        <a:t>None</a:t>
                      </a:r>
                      <a:endParaRPr sz="15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45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</a:rPr>
                        <a:t>4-bit Imm (“Sub-Opcode”)</a:t>
                      </a:r>
                      <a:endParaRPr sz="15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</a:rPr>
                        <a:t>7-bit Imm</a:t>
                      </a:r>
                      <a:endParaRPr sz="15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</a:rPr>
                        <a:t>13-bit Imm</a:t>
                      </a:r>
                      <a:endParaRPr sz="15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E20 - Labels	</a:t>
            </a:r>
            <a:r>
              <a:rPr lang="en" sz="2000" u="sng">
                <a:highlight>
                  <a:srgbClr val="00FFFF"/>
                </a:highlight>
              </a:rPr>
              <a:t>(</a:t>
            </a:r>
            <a:r>
              <a:rPr lang="en" sz="2000" u="sng">
                <a:highlight>
                  <a:srgbClr val="00FFFF"/>
                </a:highlight>
              </a:rPr>
              <a:t>Section 2.3: </a:t>
            </a:r>
            <a:r>
              <a:rPr i="1" lang="en" sz="2000" u="sng">
                <a:highlight>
                  <a:srgbClr val="00FFFF"/>
                </a:highlight>
              </a:rPr>
              <a:t>‘Memory’ </a:t>
            </a:r>
            <a:r>
              <a:rPr lang="en" sz="2000" u="sng">
                <a:highlight>
                  <a:srgbClr val="00FFFF"/>
                </a:highlight>
              </a:rPr>
              <a:t>)</a:t>
            </a:r>
            <a:endParaRPr b="1" sz="2000"/>
          </a:p>
        </p:txBody>
      </p:sp>
      <p:sp>
        <p:nvSpPr>
          <p:cNvPr id="106" name="Google Shape;106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Names given to addresses in memory</a:t>
            </a:r>
            <a:endParaRPr sz="20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i="1" lang="en" sz="1800">
                <a:solidFill>
                  <a:schemeClr val="dk1"/>
                </a:solidFill>
              </a:rPr>
              <a:t>Essentially just a number we want to remember!</a:t>
            </a:r>
            <a:endParaRPr i="1"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Handy if we want to return to a memory address multiple times</a:t>
            </a:r>
            <a:endParaRPr sz="18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Can be used as immediate value:</a:t>
            </a:r>
            <a:endParaRPr sz="20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</p:txBody>
      </p:sp>
      <p:pic>
        <p:nvPicPr>
          <p:cNvPr id="107" name="Google Shape;107;p20"/>
          <p:cNvPicPr preferRelativeResize="0"/>
          <p:nvPr/>
        </p:nvPicPr>
        <p:blipFill rotWithShape="1">
          <a:blip r:embed="rId3">
            <a:alphaModFix/>
          </a:blip>
          <a:srcRect b="4248" l="0" r="0" t="3202"/>
          <a:stretch/>
        </p:blipFill>
        <p:spPr>
          <a:xfrm>
            <a:off x="492125" y="2913600"/>
            <a:ext cx="8451725" cy="1822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1"/>
          <p:cNvSpPr txBox="1"/>
          <p:nvPr>
            <p:ph type="title"/>
          </p:nvPr>
        </p:nvSpPr>
        <p:spPr>
          <a:xfrm>
            <a:off x="311700" y="445025"/>
            <a:ext cx="8520600" cy="4077900"/>
          </a:xfrm>
          <a:prstGeom prst="rect">
            <a:avLst/>
          </a:prstGeom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0">
                <a:highlight>
                  <a:srgbClr val="FFFF00"/>
                </a:highlight>
              </a:rPr>
              <a:t>THE VALUE OF A LABEL IS THE MEMORY ADDRESS WHERE IT IS DEFINED</a:t>
            </a:r>
            <a:endParaRPr b="1" sz="6000">
              <a:highlight>
                <a:srgbClr val="FFFF00"/>
              </a:highlight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Jumps	</a:t>
            </a:r>
            <a:r>
              <a:rPr lang="en" sz="2000" u="sng">
                <a:highlight>
                  <a:srgbClr val="00FFFF"/>
                </a:highlight>
              </a:rPr>
              <a:t>(Section 3.2: </a:t>
            </a:r>
            <a:r>
              <a:rPr i="1" lang="en" sz="2000" u="sng">
                <a:highlight>
                  <a:srgbClr val="00FFFF"/>
                </a:highlight>
              </a:rPr>
              <a:t>‘Instructions w/ two register arguments’ </a:t>
            </a:r>
            <a:r>
              <a:rPr lang="en" sz="2000" u="sng">
                <a:highlight>
                  <a:srgbClr val="00FFFF"/>
                </a:highlight>
              </a:rPr>
              <a:t>)</a:t>
            </a:r>
            <a:endParaRPr b="1" sz="2000"/>
          </a:p>
        </p:txBody>
      </p:sp>
      <p:sp>
        <p:nvSpPr>
          <p:cNvPr id="118" name="Google Shape;118;p22"/>
          <p:cNvSpPr txBox="1"/>
          <p:nvPr>
            <p:ph idx="1" type="body"/>
          </p:nvPr>
        </p:nvSpPr>
        <p:spPr>
          <a:xfrm>
            <a:off x="311700" y="1017725"/>
            <a:ext cx="8520600" cy="365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Four jump instructions: </a:t>
            </a:r>
            <a:r>
              <a:rPr lang="en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‘j’, ‘jal’, ‘jr’, ‘jeq’</a:t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Rather than adding value to current pc (E15), pc jumps to address equal to value</a:t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Char char="●"/>
            </a:pPr>
            <a:r>
              <a:rPr lang="en" sz="2000">
                <a:solidFill>
                  <a:schemeClr val="dk1"/>
                </a:solidFill>
              </a:rPr>
              <a:t>(</a:t>
            </a:r>
            <a:r>
              <a:rPr lang="en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‘jeq’</a:t>
            </a:r>
            <a:r>
              <a:rPr lang="en" sz="2000">
                <a:solidFill>
                  <a:schemeClr val="dk1"/>
                </a:solidFill>
              </a:rPr>
              <a:t>) If regA == regB, pc jumps to imm;</a:t>
            </a:r>
            <a:endParaRPr sz="20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Instead of </a:t>
            </a:r>
            <a:r>
              <a:rPr i="1" lang="en" sz="1800" u="sng">
                <a:solidFill>
                  <a:schemeClr val="dk1"/>
                </a:solidFill>
              </a:rPr>
              <a:t>imm</a:t>
            </a:r>
            <a:r>
              <a:rPr lang="en" sz="1800">
                <a:solidFill>
                  <a:schemeClr val="dk1"/>
                </a:solidFill>
              </a:rPr>
              <a:t>, </a:t>
            </a:r>
            <a:r>
              <a:rPr b="1" i="1" lang="en" sz="1800" u="sng">
                <a:solidFill>
                  <a:schemeClr val="dk1"/>
                </a:solidFill>
              </a:rPr>
              <a:t>rel_imm</a:t>
            </a:r>
            <a:r>
              <a:rPr lang="en" sz="1800">
                <a:solidFill>
                  <a:schemeClr val="dk1"/>
                </a:solidFill>
              </a:rPr>
              <a:t> encoded in machine code (bc of 7-bit imm field)</a:t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 u="sng">
              <a:solidFill>
                <a:srgbClr val="000000"/>
              </a:solidFill>
              <a:highlight>
                <a:srgbClr val="00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</p:txBody>
      </p:sp>
      <p:pic>
        <p:nvPicPr>
          <p:cNvPr id="119" name="Google Shape;119;p22"/>
          <p:cNvPicPr preferRelativeResize="0"/>
          <p:nvPr/>
        </p:nvPicPr>
        <p:blipFill rotWithShape="1">
          <a:blip r:embed="rId3">
            <a:alphaModFix/>
          </a:blip>
          <a:srcRect b="0" l="0" r="3493" t="0"/>
          <a:stretch/>
        </p:blipFill>
        <p:spPr>
          <a:xfrm>
            <a:off x="311700" y="3445850"/>
            <a:ext cx="8520600" cy="13772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Memory Instructions	</a:t>
            </a:r>
            <a:r>
              <a:rPr lang="en" sz="2000" u="sng">
                <a:highlight>
                  <a:srgbClr val="00FFFF"/>
                </a:highlight>
              </a:rPr>
              <a:t>(Section 3.2: </a:t>
            </a:r>
            <a:r>
              <a:rPr i="1" lang="en" sz="2000" u="sng">
                <a:highlight>
                  <a:srgbClr val="00FFFF"/>
                </a:highlight>
              </a:rPr>
              <a:t>‘Instructions with two register arguments’ </a:t>
            </a:r>
            <a:r>
              <a:rPr lang="en" sz="2000" u="sng">
                <a:highlight>
                  <a:srgbClr val="00FFFF"/>
                </a:highlight>
              </a:rPr>
              <a:t>)</a:t>
            </a:r>
            <a:endParaRPr sz="2000" u="sng"/>
          </a:p>
        </p:txBody>
      </p:sp>
      <p:sp>
        <p:nvSpPr>
          <p:cNvPr id="125" name="Google Shape;125;p23"/>
          <p:cNvSpPr txBox="1"/>
          <p:nvPr>
            <p:ph idx="1" type="body"/>
          </p:nvPr>
        </p:nvSpPr>
        <p:spPr>
          <a:xfrm>
            <a:off x="311700" y="1259175"/>
            <a:ext cx="8520600" cy="375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 u="sng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‘lw’</a:t>
            </a:r>
            <a:r>
              <a:rPr b="1" lang="en" sz="2000" u="sng">
                <a:solidFill>
                  <a:schemeClr val="dk1"/>
                </a:solidFill>
              </a:rPr>
              <a:t> </a:t>
            </a:r>
            <a:r>
              <a:rPr b="1" lang="en" sz="2000" u="sng">
                <a:solidFill>
                  <a:schemeClr val="dk1"/>
                </a:solidFill>
              </a:rPr>
              <a:t>- Load word:</a:t>
            </a:r>
            <a:endParaRPr b="1" sz="2000" u="sng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i="1" lang="en" u="sng">
                <a:solidFill>
                  <a:schemeClr val="dk1"/>
                </a:solidFill>
              </a:rPr>
              <a:t>Reads</a:t>
            </a:r>
            <a:r>
              <a:rPr lang="en">
                <a:solidFill>
                  <a:schemeClr val="dk1"/>
                </a:solidFill>
              </a:rPr>
              <a:t> values from </a:t>
            </a:r>
            <a:r>
              <a:rPr i="1" lang="en" u="sng">
                <a:solidFill>
                  <a:schemeClr val="dk1"/>
                </a:solidFill>
              </a:rPr>
              <a:t>memory</a:t>
            </a:r>
            <a:r>
              <a:rPr lang="en">
                <a:solidFill>
                  <a:schemeClr val="dk1"/>
                </a:solidFill>
              </a:rPr>
              <a:t>, “loads” it into destination register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Char char="●"/>
            </a:pPr>
            <a:r>
              <a:rPr lang="en">
                <a:solidFill>
                  <a:schemeClr val="dk1"/>
                </a:solidFill>
              </a:rPr>
              <a:t>Ex. </a:t>
            </a: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‘lw $2, imm($1)’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Char char="○"/>
            </a:pPr>
            <a:r>
              <a:rPr lang="en">
                <a:solidFill>
                  <a:schemeClr val="dk1"/>
                </a:solidFill>
              </a:rPr>
              <a:t>Goes to address = imm + value in $1; reads value at address and copies it into $2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Symbolically equivalent to: </a:t>
            </a: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‘R[$2] &lt;= mem[R[$1] + imm]’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900" u="sng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‘sw’</a:t>
            </a:r>
            <a:r>
              <a:rPr b="1" lang="en" sz="1900" u="sng">
                <a:solidFill>
                  <a:schemeClr val="dk1"/>
                </a:solidFill>
              </a:rPr>
              <a:t> - Store word:</a:t>
            </a:r>
            <a:endParaRPr sz="1900" u="sng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i="1" lang="en" u="sng">
                <a:solidFill>
                  <a:schemeClr val="dk1"/>
                </a:solidFill>
              </a:rPr>
              <a:t>Writes</a:t>
            </a:r>
            <a:r>
              <a:rPr lang="en">
                <a:solidFill>
                  <a:schemeClr val="dk1"/>
                </a:solidFill>
              </a:rPr>
              <a:t> value into </a:t>
            </a:r>
            <a:r>
              <a:rPr i="1" lang="en" u="sng">
                <a:solidFill>
                  <a:schemeClr val="dk1"/>
                </a:solidFill>
              </a:rPr>
              <a:t>memory</a:t>
            </a:r>
            <a:r>
              <a:rPr lang="en">
                <a:solidFill>
                  <a:schemeClr val="dk1"/>
                </a:solidFill>
              </a:rPr>
              <a:t> from source register (value “stored” in memory)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Char char="●"/>
            </a:pPr>
            <a:r>
              <a:rPr lang="en">
                <a:solidFill>
                  <a:schemeClr val="dk1"/>
                </a:solidFill>
              </a:rPr>
              <a:t>Ex. </a:t>
            </a: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‘sw $2, imm($1)’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Char char="○"/>
            </a:pPr>
            <a:r>
              <a:rPr lang="en">
                <a:solidFill>
                  <a:schemeClr val="dk1"/>
                </a:solidFill>
              </a:rPr>
              <a:t>Goes to address = imm + value in $1; stores value from $2 at that address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Char char="○"/>
            </a:pPr>
            <a:r>
              <a:rPr lang="en">
                <a:solidFill>
                  <a:schemeClr val="dk1"/>
                </a:solidFill>
              </a:rPr>
              <a:t>Symbolically equivalent to: </a:t>
            </a: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‘mem[R[$1] + imm] &lt;= R[$2]’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u="sng">
                <a:solidFill>
                  <a:srgbClr val="FF0000"/>
                </a:solidFill>
              </a:rPr>
              <a:t>This means your programs can modify themselves during runtime!</a:t>
            </a:r>
            <a:endParaRPr b="1" u="sng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Pseudo-Instructions</a:t>
            </a:r>
            <a:r>
              <a:rPr lang="en"/>
              <a:t>	</a:t>
            </a:r>
            <a:r>
              <a:rPr lang="en" sz="2000" u="sng">
                <a:highlight>
                  <a:srgbClr val="00FFFF"/>
                </a:highlight>
              </a:rPr>
              <a:t>(</a:t>
            </a:r>
            <a:r>
              <a:rPr lang="en" sz="2000" u="sng">
                <a:highlight>
                  <a:srgbClr val="00FFFF"/>
                </a:highlight>
              </a:rPr>
              <a:t>Section 3.4: </a:t>
            </a:r>
            <a:r>
              <a:rPr i="1" lang="en" sz="2000" u="sng">
                <a:highlight>
                  <a:srgbClr val="00FFFF"/>
                </a:highlight>
              </a:rPr>
              <a:t>‘Pseudo-instructions’ </a:t>
            </a:r>
            <a:r>
              <a:rPr lang="en" sz="2000" u="sng">
                <a:highlight>
                  <a:srgbClr val="00FFFF"/>
                </a:highlight>
              </a:rPr>
              <a:t>)</a:t>
            </a:r>
            <a:endParaRPr sz="2000" u="sng">
              <a:highlight>
                <a:srgbClr val="00FFFF"/>
              </a:highlight>
            </a:endParaRPr>
          </a:p>
        </p:txBody>
      </p:sp>
      <p:sp>
        <p:nvSpPr>
          <p:cNvPr id="131" name="Google Shape;131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</a:rPr>
              <a:t>Shorthand for commonly used instructions.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n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‘</a:t>
            </a:r>
            <a:r>
              <a:rPr b="1" lang="en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b="1" lang="en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op’</a:t>
            </a:r>
            <a:r>
              <a:rPr b="1" lang="en" sz="2000">
                <a:solidFill>
                  <a:schemeClr val="dk1"/>
                </a:solidFill>
              </a:rPr>
              <a:t> </a:t>
            </a:r>
            <a:r>
              <a:rPr lang="en" sz="2000">
                <a:solidFill>
                  <a:schemeClr val="dk1"/>
                </a:solidFill>
              </a:rPr>
              <a:t>-&gt;</a:t>
            </a:r>
            <a:r>
              <a:rPr lang="en" sz="2000">
                <a:solidFill>
                  <a:schemeClr val="dk1"/>
                </a:solidFill>
              </a:rPr>
              <a:t> </a:t>
            </a:r>
            <a:r>
              <a:rPr lang="en" sz="2000">
                <a:solidFill>
                  <a:schemeClr val="dk1"/>
                </a:solidFill>
              </a:rPr>
              <a:t>No operations</a:t>
            </a:r>
            <a:endParaRPr sz="2000">
              <a:solidFill>
                <a:schemeClr val="dk1"/>
              </a:solidFill>
            </a:endParaRPr>
          </a:p>
          <a:p>
            <a:pPr indent="-3556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" sz="2000">
                <a:solidFill>
                  <a:schemeClr val="dk1"/>
                </a:solidFill>
              </a:rPr>
              <a:t>Encoded</a:t>
            </a:r>
            <a:r>
              <a:rPr lang="en" sz="2000">
                <a:solidFill>
                  <a:schemeClr val="dk1"/>
                </a:solidFill>
              </a:rPr>
              <a:t> as </a:t>
            </a:r>
            <a:r>
              <a:rPr lang="en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‘add $0, $0, $0’</a:t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n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‘halt’</a:t>
            </a:r>
            <a:r>
              <a:rPr b="1" lang="en" sz="2000">
                <a:solidFill>
                  <a:schemeClr val="dk1"/>
                </a:solidFill>
              </a:rPr>
              <a:t> </a:t>
            </a:r>
            <a:r>
              <a:rPr lang="en" sz="2000">
                <a:solidFill>
                  <a:schemeClr val="dk1"/>
                </a:solidFill>
              </a:rPr>
              <a:t>-&gt;  </a:t>
            </a:r>
            <a:r>
              <a:rPr lang="en" sz="2000">
                <a:solidFill>
                  <a:schemeClr val="dk1"/>
                </a:solidFill>
              </a:rPr>
              <a:t>(Ends program)</a:t>
            </a:r>
            <a:endParaRPr sz="2000">
              <a:solidFill>
                <a:schemeClr val="dk1"/>
              </a:solidFill>
            </a:endParaRPr>
          </a:p>
          <a:p>
            <a:pPr indent="-3556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" sz="2000">
                <a:solidFill>
                  <a:schemeClr val="dk1"/>
                </a:solidFill>
              </a:rPr>
              <a:t>Encoded </a:t>
            </a:r>
            <a:r>
              <a:rPr lang="en" sz="2000">
                <a:solidFill>
                  <a:schemeClr val="dk1"/>
                </a:solidFill>
              </a:rPr>
              <a:t>as </a:t>
            </a:r>
            <a:r>
              <a:rPr lang="en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‘j current_address’</a:t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Char char="●"/>
            </a:pPr>
            <a:r>
              <a:rPr b="1" lang="en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‘movi $reg, imm’</a:t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556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" sz="2000">
                <a:solidFill>
                  <a:schemeClr val="dk1"/>
                </a:solidFill>
              </a:rPr>
              <a:t>Encoded as </a:t>
            </a:r>
            <a:r>
              <a:rPr lang="en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‘addi $reg, $0, imm’</a:t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Assembler Directives </a:t>
            </a:r>
            <a:r>
              <a:rPr lang="en" sz="2000" u="sng">
                <a:highlight>
                  <a:srgbClr val="00FFFF"/>
                </a:highlight>
              </a:rPr>
              <a:t>(Section 3.5: </a:t>
            </a:r>
            <a:r>
              <a:rPr i="1" lang="en" sz="2000" u="sng">
                <a:highlight>
                  <a:srgbClr val="00FFFF"/>
                </a:highlight>
              </a:rPr>
              <a:t>‘Assembler directives’ </a:t>
            </a:r>
            <a:r>
              <a:rPr lang="en" sz="2000" u="sng">
                <a:highlight>
                  <a:srgbClr val="00FFFF"/>
                </a:highlight>
              </a:rPr>
              <a:t>)</a:t>
            </a:r>
            <a:r>
              <a:rPr lang="en"/>
              <a:t> </a:t>
            </a:r>
            <a:endParaRPr/>
          </a:p>
        </p:txBody>
      </p:sp>
      <p:sp>
        <p:nvSpPr>
          <p:cNvPr id="137" name="Google Shape;137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Not instructions for processor! 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Commands to assembler itself; runs during assembly time</a:t>
            </a:r>
            <a:endParaRPr sz="2000"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 sz="1400">
                <a:solidFill>
                  <a:schemeClr val="dk1"/>
                </a:solidFill>
              </a:rPr>
              <a:t>Ex: </a:t>
            </a: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‘</a:t>
            </a:r>
            <a:r>
              <a:rPr lang="en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.fill some_label</a:t>
            </a: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’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</a:pPr>
            <a:r>
              <a:rPr lang="en">
                <a:solidFill>
                  <a:schemeClr val="dk1"/>
                </a:solidFill>
              </a:rPr>
              <a:t>Insert the 16-bit value of some_label into memory at current location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 sz="1400">
                <a:solidFill>
                  <a:schemeClr val="dk1"/>
                </a:solidFill>
              </a:rPr>
              <a:t>Ex: </a:t>
            </a: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‘</a:t>
            </a:r>
            <a:r>
              <a:rPr lang="en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.fill 42</a:t>
            </a: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’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</a:pPr>
            <a:r>
              <a:rPr lang="en">
                <a:solidFill>
                  <a:schemeClr val="dk1"/>
                </a:solidFill>
              </a:rPr>
              <a:t>Insert the 16-bit value of 42 into memory at current location</a:t>
            </a:r>
            <a:endParaRPr sz="20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</p:txBody>
      </p:sp>
      <p:pic>
        <p:nvPicPr>
          <p:cNvPr id="138" name="Google Shape;138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3240300"/>
            <a:ext cx="8520601" cy="15909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6"/>
          <p:cNvSpPr txBox="1"/>
          <p:nvPr>
            <p:ph type="ctrTitle"/>
          </p:nvPr>
        </p:nvSpPr>
        <p:spPr>
          <a:xfrm>
            <a:off x="311708" y="81622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E20 Manual is ur bff now &lt;3</a:t>
            </a:r>
            <a:endParaRPr/>
          </a:p>
        </p:txBody>
      </p:sp>
      <p:sp>
        <p:nvSpPr>
          <p:cNvPr id="144" name="Google Shape;144;p26"/>
          <p:cNvSpPr txBox="1"/>
          <p:nvPr>
            <p:ph idx="1" type="subTitle"/>
          </p:nvPr>
        </p:nvSpPr>
        <p:spPr>
          <a:xfrm>
            <a:off x="311700" y="28688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/>
              <a:t>Read it thoroughly! It has EVERYTHING!!</a:t>
            </a:r>
            <a:endParaRPr i="1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2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