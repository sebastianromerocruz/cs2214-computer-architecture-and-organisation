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y="5143500" cx="9144000"/>
  <p:notesSz cx="6858000" cy="9144000"/>
  <p:embeddedFontLst>
    <p:embeddedFont>
      <p:font typeface="Source Code Pr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BD6E07-8428-4217-ACE7-A19954911CBF}">
  <a:tblStyle styleId="{57BD6E07-8428-4217-ACE7-A19954911C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font" Target="fonts/SourceCodePro-bold.fntdata"/><Relationship Id="rId21" Type="http://schemas.openxmlformats.org/officeDocument/2006/relationships/slide" Target="slides/slide14.xml"/><Relationship Id="rId43" Type="http://schemas.openxmlformats.org/officeDocument/2006/relationships/font" Target="fonts/SourceCodePro-regular.fntdata"/><Relationship Id="rId24" Type="http://schemas.openxmlformats.org/officeDocument/2006/relationships/slide" Target="slides/slide17.xml"/><Relationship Id="rId46" Type="http://schemas.openxmlformats.org/officeDocument/2006/relationships/font" Target="fonts/SourceCodePro-boldItalic.fntdata"/><Relationship Id="rId23" Type="http://schemas.openxmlformats.org/officeDocument/2006/relationships/slide" Target="slides/slide16.xml"/><Relationship Id="rId45" Type="http://schemas.openxmlformats.org/officeDocument/2006/relationships/font" Target="fonts/SourceCodePr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182ba326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182ba326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c2eb6ce40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c2eb6ce40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c2eb6ce4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c2eb6ce4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941197913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941197913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c2f3b799e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c2f3b799e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9411979cf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9411979cf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2f3b799e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c2f3b799e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c2f3b799e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c2f3b799e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c2f3b799e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c2f3b799e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c2f3b799e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c2f3b799e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c2f3b799e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c2f3b799e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8effc126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8effc126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1f15ce2aa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1f15ce2aa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c2f3b799e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c2f3b799e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94119791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94119791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941197913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941197913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8effc1261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8effc1261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effc1261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8effc1261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8effc1261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8effc1261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8effc1261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8effc1261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8effc1261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8effc1261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1f15ce2a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11f15ce2a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c2f3b799e6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c2f3b799e6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c2f3b799e6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c2f3b799e6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c2f3b799e6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c2f3b799e6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c2f3b799e6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c2f3b799e6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c2f3b799e6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c2f3b799e6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c2f3b799e6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c2f3b799e6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c2f3b799e6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c2f3b799e6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c2f3b799e6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c2f3b799e6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c2f3b799e6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c2f3b799e6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c2f3b799e6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c2f3b799e6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c2f3b799e6_0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c2f3b799e6_0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c2f3b799e6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2c2f3b799e6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c2f3b799e6_0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c2f3b799e6_0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22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895975"/>
            <a:ext cx="85206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</a:defRPr>
            </a:lvl1pPr>
            <a:lvl2pPr lvl="1" algn="r">
              <a:buNone/>
              <a:defRPr sz="1000">
                <a:solidFill>
                  <a:schemeClr val="dk1"/>
                </a:solidFill>
              </a:defRPr>
            </a:lvl2pPr>
            <a:lvl3pPr lvl="2" algn="r">
              <a:buNone/>
              <a:defRPr sz="1000">
                <a:solidFill>
                  <a:schemeClr val="dk1"/>
                </a:solidFill>
              </a:defRPr>
            </a:lvl3pPr>
            <a:lvl4pPr lvl="3" algn="r">
              <a:buNone/>
              <a:defRPr sz="1000">
                <a:solidFill>
                  <a:schemeClr val="dk1"/>
                </a:solidFill>
              </a:defRPr>
            </a:lvl4pPr>
            <a:lvl5pPr lvl="4" algn="r">
              <a:buNone/>
              <a:defRPr sz="1000">
                <a:solidFill>
                  <a:schemeClr val="dk1"/>
                </a:solidFill>
              </a:defRPr>
            </a:lvl5pPr>
            <a:lvl6pPr lvl="5" algn="r">
              <a:buNone/>
              <a:defRPr sz="1000">
                <a:solidFill>
                  <a:schemeClr val="dk1"/>
                </a:solidFill>
              </a:defRPr>
            </a:lvl6pPr>
            <a:lvl7pPr lvl="6" algn="r">
              <a:buNone/>
              <a:defRPr sz="1000">
                <a:solidFill>
                  <a:schemeClr val="dk1"/>
                </a:solidFill>
              </a:defRPr>
            </a:lvl7pPr>
            <a:lvl8pPr lvl="7" algn="r">
              <a:buNone/>
              <a:defRPr sz="1000">
                <a:solidFill>
                  <a:schemeClr val="dk1"/>
                </a:solidFill>
              </a:defRPr>
            </a:lvl8pPr>
            <a:lvl9pPr lvl="8" algn="r">
              <a:buNone/>
              <a:defRPr sz="10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Recitation 8: E20 Pipeline</a:t>
            </a:r>
            <a:endParaRPr sz="4800"/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CSUY 2214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ctrTitle"/>
          </p:nvPr>
        </p:nvSpPr>
        <p:spPr>
          <a:xfrm>
            <a:off x="3348600" y="1123800"/>
            <a:ext cx="2446800" cy="289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W</a:t>
            </a:r>
            <a:r>
              <a:rPr b="1" lang="en" sz="4800"/>
              <a:t>hat are Labels?</a:t>
            </a:r>
            <a:endParaRPr b="1"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abels are memory addresses." id="110" name="Google Shape;110;p27"/>
          <p:cNvSpPr/>
          <p:nvPr/>
        </p:nvSpPr>
        <p:spPr>
          <a:xfrm>
            <a:off x="476463" y="2120164"/>
            <a:ext cx="8191073" cy="903183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  <a:solidFill>
                  <a:srgbClr val="00FF00"/>
                </a:solidFill>
                <a:latin typeface="Arial"/>
              </a:rPr>
              <a:t>memory addresses</a:t>
            </a:r>
          </a:p>
        </p:txBody>
      </p:sp>
      <p:sp>
        <p:nvSpPr>
          <p:cNvPr id="111" name="Google Shape;111;p27"/>
          <p:cNvSpPr txBox="1"/>
          <p:nvPr/>
        </p:nvSpPr>
        <p:spPr>
          <a:xfrm>
            <a:off x="4711150" y="4541175"/>
            <a:ext cx="41499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rgbClr val="FF0000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(Courtesy of Rishyak Panchal, 2024)</a:t>
            </a:r>
            <a:endParaRPr i="1" sz="1800" u="sng">
              <a:solidFill>
                <a:srgbClr val="FF0000"/>
              </a:solidFill>
              <a:highlight>
                <a:schemeClr val="accent6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E20 Multicycle Review</a:t>
            </a:r>
            <a:endParaRPr/>
          </a:p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311700" y="1152475"/>
            <a:ext cx="8520600" cy="3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8" name="Google Shape;118;p28"/>
          <p:cNvPicPr preferRelativeResize="0"/>
          <p:nvPr/>
        </p:nvPicPr>
        <p:blipFill rotWithShape="1">
          <a:blip r:embed="rId3">
            <a:alphaModFix/>
          </a:blip>
          <a:srcRect b="24084" l="1933" r="1401" t="29670"/>
          <a:stretch/>
        </p:blipFill>
        <p:spPr>
          <a:xfrm>
            <a:off x="604337" y="1693698"/>
            <a:ext cx="7935325" cy="2832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Do Pipeline</a:t>
            </a:r>
            <a:endParaRPr/>
          </a:p>
        </p:txBody>
      </p:sp>
      <p:sp>
        <p:nvSpPr>
          <p:cNvPr id="124" name="Google Shape;124;p29"/>
          <p:cNvSpPr txBox="1"/>
          <p:nvPr>
            <p:ph idx="1" type="body"/>
          </p:nvPr>
        </p:nvSpPr>
        <p:spPr>
          <a:xfrm>
            <a:off x="311700" y="1152475"/>
            <a:ext cx="8520600" cy="3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5" name="Google Shape;125;p29"/>
          <p:cNvPicPr preferRelativeResize="0"/>
          <p:nvPr/>
        </p:nvPicPr>
        <p:blipFill rotWithShape="1">
          <a:blip r:embed="rId3">
            <a:alphaModFix/>
          </a:blip>
          <a:srcRect b="0" l="0" r="0" t="12480"/>
          <a:stretch/>
        </p:blipFill>
        <p:spPr>
          <a:xfrm>
            <a:off x="592500" y="1152475"/>
            <a:ext cx="7958999" cy="36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 Do Pipeline</a:t>
            </a:r>
            <a:endParaRPr/>
          </a:p>
        </p:txBody>
      </p:sp>
      <p:sp>
        <p:nvSpPr>
          <p:cNvPr id="131" name="Google Shape;131;p30"/>
          <p:cNvSpPr txBox="1"/>
          <p:nvPr>
            <p:ph idx="1" type="body"/>
          </p:nvPr>
        </p:nvSpPr>
        <p:spPr>
          <a:xfrm>
            <a:off x="311700" y="1152475"/>
            <a:ext cx="8520600" cy="3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2" name="Google Shape;132;p30"/>
          <p:cNvPicPr preferRelativeResize="0"/>
          <p:nvPr/>
        </p:nvPicPr>
        <p:blipFill rotWithShape="1">
          <a:blip r:embed="rId3">
            <a:alphaModFix/>
          </a:blip>
          <a:srcRect b="14419" l="0" r="0" t="6177"/>
          <a:stretch/>
        </p:blipFill>
        <p:spPr>
          <a:xfrm>
            <a:off x="469025" y="1152475"/>
            <a:ext cx="8205952" cy="3644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Google Shape;137;p31"/>
          <p:cNvGraphicFramePr/>
          <p:nvPr/>
        </p:nvGraphicFramePr>
        <p:xfrm>
          <a:off x="290100" y="15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679850"/>
                <a:gridCol w="1576775"/>
                <a:gridCol w="1576775"/>
                <a:gridCol w="1576775"/>
                <a:gridCol w="1576775"/>
                <a:gridCol w="1576775"/>
              </a:tblGrid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IF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31"/>
          <p:cNvSpPr/>
          <p:nvPr/>
        </p:nvSpPr>
        <p:spPr>
          <a:xfrm>
            <a:off x="2672200" y="837625"/>
            <a:ext cx="2448000" cy="461100"/>
          </a:xfrm>
          <a:prstGeom prst="wedgeRoundRectCallout">
            <a:avLst>
              <a:gd fmla="val -68319" name="adj1"/>
              <a:gd fmla="val -2011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Do you see a problem?</a:t>
            </a:r>
            <a:endParaRPr/>
          </a:p>
        </p:txBody>
      </p:sp>
      <p:sp>
        <p:nvSpPr>
          <p:cNvPr id="139" name="Google Shape;139;p31"/>
          <p:cNvSpPr txBox="1"/>
          <p:nvPr>
            <p:ph type="title"/>
          </p:nvPr>
        </p:nvSpPr>
        <p:spPr>
          <a:xfrm>
            <a:off x="290100" y="714475"/>
            <a:ext cx="1784100" cy="7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$0,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$1,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0" name="Google Shape;140;p31"/>
          <p:cNvSpPr txBox="1"/>
          <p:nvPr>
            <p:ph type="title"/>
          </p:nvPr>
        </p:nvSpPr>
        <p:spPr>
          <a:xfrm>
            <a:off x="311700" y="116450"/>
            <a:ext cx="85422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Example E20 program</a:t>
            </a:r>
            <a:endParaRPr sz="2020"/>
          </a:p>
        </p:txBody>
      </p:sp>
      <p:sp>
        <p:nvSpPr>
          <p:cNvPr id="141" name="Google Shape;141;p31"/>
          <p:cNvSpPr txBox="1"/>
          <p:nvPr/>
        </p:nvSpPr>
        <p:spPr>
          <a:xfrm>
            <a:off x="4963500" y="4757850"/>
            <a:ext cx="3897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rgbClr val="FF0000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(Courtesy of Rishyak Panchal, 2024)</a:t>
            </a:r>
            <a:endParaRPr i="1" sz="1800" u="sng">
              <a:solidFill>
                <a:srgbClr val="FF0000"/>
              </a:solidFill>
              <a:highlight>
                <a:schemeClr val="accent6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Google Shape;146;p32"/>
          <p:cNvGraphicFramePr/>
          <p:nvPr/>
        </p:nvGraphicFramePr>
        <p:xfrm>
          <a:off x="290100" y="15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679850"/>
                <a:gridCol w="1576775"/>
                <a:gridCol w="1576775"/>
                <a:gridCol w="1576775"/>
                <a:gridCol w="1576775"/>
                <a:gridCol w="1576775"/>
              </a:tblGrid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IF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p32"/>
          <p:cNvSpPr txBox="1"/>
          <p:nvPr>
            <p:ph type="title"/>
          </p:nvPr>
        </p:nvSpPr>
        <p:spPr>
          <a:xfrm>
            <a:off x="290100" y="714475"/>
            <a:ext cx="1784100" cy="7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$0,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$1,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48" name="Google Shape;148;p32"/>
          <p:cNvSpPr txBox="1"/>
          <p:nvPr>
            <p:ph type="title"/>
          </p:nvPr>
        </p:nvSpPr>
        <p:spPr>
          <a:xfrm>
            <a:off x="311700" y="116450"/>
            <a:ext cx="85422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Example E20 program</a:t>
            </a:r>
            <a:endParaRPr sz="2020"/>
          </a:p>
        </p:txBody>
      </p:sp>
      <p:sp>
        <p:nvSpPr>
          <p:cNvPr id="149" name="Google Shape;149;p32"/>
          <p:cNvSpPr txBox="1"/>
          <p:nvPr/>
        </p:nvSpPr>
        <p:spPr>
          <a:xfrm>
            <a:off x="4963500" y="4757850"/>
            <a:ext cx="3897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rgbClr val="FF0000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(Courtesy of Rishyak Panchal, 2024)</a:t>
            </a:r>
            <a:endParaRPr i="1" sz="1800" u="sng">
              <a:solidFill>
                <a:srgbClr val="FF0000"/>
              </a:solidFill>
              <a:highlight>
                <a:schemeClr val="accent6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" name="Google Shape;154;p33"/>
          <p:cNvGraphicFramePr/>
          <p:nvPr/>
        </p:nvGraphicFramePr>
        <p:xfrm>
          <a:off x="290100" y="15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679850"/>
                <a:gridCol w="1576775"/>
                <a:gridCol w="1576775"/>
                <a:gridCol w="1576775"/>
                <a:gridCol w="1576775"/>
                <a:gridCol w="1576775"/>
              </a:tblGrid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IF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33"/>
          <p:cNvSpPr txBox="1"/>
          <p:nvPr>
            <p:ph type="title"/>
          </p:nvPr>
        </p:nvSpPr>
        <p:spPr>
          <a:xfrm>
            <a:off x="290100" y="714475"/>
            <a:ext cx="1784100" cy="7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$0,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$1,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6" name="Google Shape;156;p33"/>
          <p:cNvSpPr txBox="1"/>
          <p:nvPr>
            <p:ph type="title"/>
          </p:nvPr>
        </p:nvSpPr>
        <p:spPr>
          <a:xfrm>
            <a:off x="311700" y="116450"/>
            <a:ext cx="85422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Example E20 program</a:t>
            </a:r>
            <a:endParaRPr sz="2020"/>
          </a:p>
        </p:txBody>
      </p:sp>
      <p:sp>
        <p:nvSpPr>
          <p:cNvPr id="157" name="Google Shape;157;p33"/>
          <p:cNvSpPr txBox="1"/>
          <p:nvPr/>
        </p:nvSpPr>
        <p:spPr>
          <a:xfrm>
            <a:off x="4963500" y="4757850"/>
            <a:ext cx="3897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rgbClr val="FF0000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(Courtesy of Rishyak Panchal, 2024)</a:t>
            </a:r>
            <a:endParaRPr i="1" sz="1800" u="sng">
              <a:solidFill>
                <a:srgbClr val="FF0000"/>
              </a:solidFill>
              <a:highlight>
                <a:schemeClr val="accent6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2" name="Google Shape;162;p34"/>
          <p:cNvGraphicFramePr/>
          <p:nvPr/>
        </p:nvGraphicFramePr>
        <p:xfrm>
          <a:off x="290100" y="15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679850"/>
                <a:gridCol w="1576775"/>
                <a:gridCol w="1576775"/>
                <a:gridCol w="1576775"/>
                <a:gridCol w="1576775"/>
                <a:gridCol w="1576775"/>
              </a:tblGrid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IF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" name="Google Shape;163;p34"/>
          <p:cNvSpPr txBox="1"/>
          <p:nvPr>
            <p:ph type="title"/>
          </p:nvPr>
        </p:nvSpPr>
        <p:spPr>
          <a:xfrm>
            <a:off x="290100" y="714475"/>
            <a:ext cx="1784100" cy="7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$0,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$1,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4" name="Google Shape;164;p34"/>
          <p:cNvSpPr txBox="1"/>
          <p:nvPr>
            <p:ph type="title"/>
          </p:nvPr>
        </p:nvSpPr>
        <p:spPr>
          <a:xfrm>
            <a:off x="311700" y="116450"/>
            <a:ext cx="85422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Example E20 program</a:t>
            </a:r>
            <a:endParaRPr sz="2020"/>
          </a:p>
        </p:txBody>
      </p:sp>
      <p:sp>
        <p:nvSpPr>
          <p:cNvPr id="165" name="Google Shape;165;p34"/>
          <p:cNvSpPr txBox="1"/>
          <p:nvPr/>
        </p:nvSpPr>
        <p:spPr>
          <a:xfrm>
            <a:off x="4963500" y="4757850"/>
            <a:ext cx="3897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rgbClr val="FF0000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(Courtesy of Rishyak Panchal, 2024)</a:t>
            </a:r>
            <a:endParaRPr i="1" sz="1800" u="sng">
              <a:solidFill>
                <a:srgbClr val="FF0000"/>
              </a:solidFill>
              <a:highlight>
                <a:schemeClr val="accent6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Google Shape;170;p35"/>
          <p:cNvGraphicFramePr/>
          <p:nvPr/>
        </p:nvGraphicFramePr>
        <p:xfrm>
          <a:off x="290100" y="15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679850"/>
                <a:gridCol w="1576775"/>
                <a:gridCol w="1576775"/>
                <a:gridCol w="1576775"/>
                <a:gridCol w="1576775"/>
                <a:gridCol w="1576775"/>
              </a:tblGrid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IF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1" name="Google Shape;171;p35"/>
          <p:cNvSpPr/>
          <p:nvPr/>
        </p:nvSpPr>
        <p:spPr>
          <a:xfrm>
            <a:off x="3326225" y="714475"/>
            <a:ext cx="3838800" cy="707400"/>
          </a:xfrm>
          <a:prstGeom prst="wedgeRoundRectCallout">
            <a:avLst>
              <a:gd fmla="val -30366" name="adj1"/>
              <a:gd fmla="val 252283" name="adj2"/>
              <a:gd fmla="val 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Reading a value from $1 before it is written!</a:t>
            </a:r>
            <a:endParaRPr/>
          </a:p>
        </p:txBody>
      </p:sp>
      <p:sp>
        <p:nvSpPr>
          <p:cNvPr id="172" name="Google Shape;172;p35"/>
          <p:cNvSpPr txBox="1"/>
          <p:nvPr>
            <p:ph type="title"/>
          </p:nvPr>
        </p:nvSpPr>
        <p:spPr>
          <a:xfrm>
            <a:off x="290100" y="714475"/>
            <a:ext cx="1784100" cy="7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$0,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$1,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73" name="Google Shape;173;p35"/>
          <p:cNvSpPr txBox="1"/>
          <p:nvPr>
            <p:ph type="title"/>
          </p:nvPr>
        </p:nvSpPr>
        <p:spPr>
          <a:xfrm>
            <a:off x="311700" y="116450"/>
            <a:ext cx="85422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Example E20 program</a:t>
            </a:r>
            <a:endParaRPr sz="2020"/>
          </a:p>
        </p:txBody>
      </p:sp>
      <p:sp>
        <p:nvSpPr>
          <p:cNvPr id="174" name="Google Shape;174;p35"/>
          <p:cNvSpPr txBox="1"/>
          <p:nvPr/>
        </p:nvSpPr>
        <p:spPr>
          <a:xfrm>
            <a:off x="4963500" y="4757850"/>
            <a:ext cx="38973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rgbClr val="FF0000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(Courtesy of Rishyak Panchal, 2024)</a:t>
            </a:r>
            <a:endParaRPr i="1" sz="1800" u="sng">
              <a:solidFill>
                <a:srgbClr val="FF0000"/>
              </a:solidFill>
              <a:highlight>
                <a:schemeClr val="accent6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/>
          <p:nvPr>
            <p:ph idx="1" type="body"/>
          </p:nvPr>
        </p:nvSpPr>
        <p:spPr>
          <a:xfrm>
            <a:off x="311700" y="445075"/>
            <a:ext cx="3812700" cy="41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chemeClr val="dk1"/>
                </a:solidFill>
              </a:rPr>
              <a:t>Data Conflicts</a:t>
            </a:r>
            <a:endParaRPr b="1" sz="2400" u="sng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2 or more instructions share a resource (Registers or Memory Cells)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i="1" lang="en" sz="1600"/>
              <a:t>Write-after-Read</a:t>
            </a:r>
            <a:endParaRPr i="1" sz="1600"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i="1" lang="en" sz="1600"/>
              <a:t>Write-after-Write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Only an issue for </a:t>
            </a:r>
            <a:r>
              <a:rPr b="1" lang="en" u="sng">
                <a:solidFill>
                  <a:srgbClr val="1155CC"/>
                </a:solidFill>
              </a:rPr>
              <a:t>reordering</a:t>
            </a:r>
            <a:endParaRPr i="1"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 u="sng">
                <a:solidFill>
                  <a:srgbClr val="FF0000"/>
                </a:solidFill>
              </a:rPr>
              <a:t>Data Hazards</a:t>
            </a:r>
            <a:endParaRPr b="1" sz="2400" u="sng"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 conflict you must </a:t>
            </a:r>
            <a:r>
              <a:rPr b="1" i="1" lang="en">
                <a:solidFill>
                  <a:srgbClr val="FF0000"/>
                </a:solidFill>
              </a:rPr>
              <a:t>fix</a:t>
            </a:r>
            <a:r>
              <a:rPr lang="en">
                <a:solidFill>
                  <a:srgbClr val="FF0000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i="1" lang="en" sz="1600"/>
              <a:t>R</a:t>
            </a:r>
            <a:r>
              <a:rPr i="1" lang="en" sz="1600"/>
              <a:t>ead-after-Write</a:t>
            </a:r>
            <a:endParaRPr i="1" sz="1600"/>
          </a:p>
        </p:txBody>
      </p:sp>
      <p:sp>
        <p:nvSpPr>
          <p:cNvPr id="180" name="Google Shape;180;p36"/>
          <p:cNvSpPr/>
          <p:nvPr/>
        </p:nvSpPr>
        <p:spPr>
          <a:xfrm>
            <a:off x="4401675" y="314100"/>
            <a:ext cx="4385400" cy="4515300"/>
          </a:xfrm>
          <a:prstGeom prst="ellipse">
            <a:avLst/>
          </a:prstGeom>
          <a:solidFill>
            <a:srgbClr val="FFF2CC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6"/>
          <p:cNvSpPr/>
          <p:nvPr/>
        </p:nvSpPr>
        <p:spPr>
          <a:xfrm>
            <a:off x="5450025" y="1422150"/>
            <a:ext cx="2288700" cy="2299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rgbClr val="E0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Stalling</a:t>
            </a:r>
            <a:endParaRPr/>
          </a:p>
        </p:txBody>
      </p:sp>
      <p:pic>
        <p:nvPicPr>
          <p:cNvPr id="187" name="Google Shape;18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2150" y="1489125"/>
            <a:ext cx="6699701" cy="310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7"/>
          <p:cNvSpPr txBox="1"/>
          <p:nvPr/>
        </p:nvSpPr>
        <p:spPr>
          <a:xfrm>
            <a:off x="5593375" y="446025"/>
            <a:ext cx="3097800" cy="10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37"/>
          <p:cNvSpPr txBox="1"/>
          <p:nvPr/>
        </p:nvSpPr>
        <p:spPr>
          <a:xfrm>
            <a:off x="1222200" y="2652225"/>
            <a:ext cx="6699600" cy="1944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Reordering</a:t>
            </a:r>
            <a:endParaRPr/>
          </a:p>
        </p:txBody>
      </p:sp>
      <p:pic>
        <p:nvPicPr>
          <p:cNvPr id="195" name="Google Shape;195;p38"/>
          <p:cNvPicPr preferRelativeResize="0"/>
          <p:nvPr/>
        </p:nvPicPr>
        <p:blipFill rotWithShape="1">
          <a:blip r:embed="rId3">
            <a:alphaModFix/>
          </a:blip>
          <a:srcRect b="0" l="0" r="61837" t="0"/>
          <a:stretch/>
        </p:blipFill>
        <p:spPr>
          <a:xfrm>
            <a:off x="4571988" y="2243950"/>
            <a:ext cx="1778900" cy="27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38"/>
          <p:cNvPicPr preferRelativeResize="0"/>
          <p:nvPr/>
        </p:nvPicPr>
        <p:blipFill rotWithShape="1">
          <a:blip r:embed="rId4">
            <a:alphaModFix/>
          </a:blip>
          <a:srcRect b="0" l="0" r="0" t="55118"/>
          <a:stretch/>
        </p:blipFill>
        <p:spPr>
          <a:xfrm>
            <a:off x="6658800" y="1209425"/>
            <a:ext cx="2152650" cy="103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89863" y="1188525"/>
            <a:ext cx="2143125" cy="107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8"/>
          <p:cNvPicPr preferRelativeResize="0"/>
          <p:nvPr/>
        </p:nvPicPr>
        <p:blipFill rotWithShape="1">
          <a:blip r:embed="rId3">
            <a:alphaModFix/>
          </a:blip>
          <a:srcRect b="0" l="59121" r="0" t="0"/>
          <a:stretch/>
        </p:blipFill>
        <p:spPr>
          <a:xfrm>
            <a:off x="6782350" y="2243950"/>
            <a:ext cx="1905525" cy="27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8"/>
          <p:cNvSpPr txBox="1"/>
          <p:nvPr>
            <p:ph idx="1" type="body"/>
          </p:nvPr>
        </p:nvSpPr>
        <p:spPr>
          <a:xfrm>
            <a:off x="311700" y="1017725"/>
            <a:ext cx="4078200" cy="3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Allows us to increase efficiency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Sometimes allows us to avoid stalling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Need to be aware of Hazards AND Conflicts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FF0000"/>
              </a:solidFill>
            </a:endParaRPr>
          </a:p>
        </p:txBody>
      </p:sp>
      <p:sp>
        <p:nvSpPr>
          <p:cNvPr id="200" name="Google Shape;200;p38"/>
          <p:cNvSpPr txBox="1"/>
          <p:nvPr/>
        </p:nvSpPr>
        <p:spPr>
          <a:xfrm>
            <a:off x="311700" y="2864350"/>
            <a:ext cx="3887400" cy="14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FF0000"/>
                </a:solidFill>
                <a:highlight>
                  <a:srgbClr val="FFFF00"/>
                </a:highlight>
              </a:rPr>
              <a:t>NEVER CHANGE THE </a:t>
            </a:r>
            <a:r>
              <a:rPr b="1" i="1" lang="en" sz="2400">
                <a:solidFill>
                  <a:srgbClr val="FF0000"/>
                </a:solidFill>
                <a:highlight>
                  <a:srgbClr val="FFFF00"/>
                </a:highlight>
              </a:rPr>
              <a:t>RELATIVE</a:t>
            </a:r>
            <a:r>
              <a:rPr b="1" lang="en" sz="2400">
                <a:solidFill>
                  <a:srgbClr val="FF0000"/>
                </a:solidFill>
                <a:highlight>
                  <a:srgbClr val="FFFF00"/>
                </a:highlight>
              </a:rPr>
              <a:t> ORDER OF TWO INSTRUCTIONS THAT HAVE A </a:t>
            </a:r>
            <a:r>
              <a:rPr b="1" lang="en" sz="2400" u="sng">
                <a:solidFill>
                  <a:srgbClr val="FF0000"/>
                </a:solidFill>
                <a:highlight>
                  <a:srgbClr val="FFFF00"/>
                </a:highlight>
              </a:rPr>
              <a:t>CONFLICT</a:t>
            </a:r>
            <a:endParaRPr sz="2400" u="sng">
              <a:solidFill>
                <a:schemeClr val="dk2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 u="sng"/>
              <a:t>Control Hazards </a:t>
            </a:r>
            <a:endParaRPr b="1" sz="2400" u="sng"/>
          </a:p>
        </p:txBody>
      </p:sp>
      <p:sp>
        <p:nvSpPr>
          <p:cNvPr id="206" name="Google Shape;206;p39"/>
          <p:cNvSpPr txBox="1"/>
          <p:nvPr>
            <p:ph idx="1" type="body"/>
          </p:nvPr>
        </p:nvSpPr>
        <p:spPr>
          <a:xfrm>
            <a:off x="311700" y="1152475"/>
            <a:ext cx="8520600" cy="38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Basically a “Read-after-Write” hazard but involves the 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‘pc’</a:t>
            </a:r>
            <a:endParaRPr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Solutions: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Stalling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Branch Prediction </a:t>
            </a:r>
            <a:r>
              <a:rPr i="1" lang="en">
                <a:solidFill>
                  <a:schemeClr val="dk1"/>
                </a:solidFill>
              </a:rPr>
              <a:t>(</a:t>
            </a:r>
            <a:r>
              <a:rPr i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</a:t>
            </a:r>
            <a:r>
              <a:rPr b="1" i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jeq</a:t>
            </a:r>
            <a:r>
              <a:rPr i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’</a:t>
            </a:r>
            <a:r>
              <a:rPr i="1" lang="en">
                <a:solidFill>
                  <a:schemeClr val="dk1"/>
                </a:solidFill>
              </a:rPr>
              <a:t> only) 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Branch Prediction</a:t>
            </a:r>
            <a:r>
              <a:rPr b="1" lang="en" u="sng">
                <a:solidFill>
                  <a:schemeClr val="dk1"/>
                </a:solidFill>
              </a:rPr>
              <a:t>:</a:t>
            </a:r>
            <a:r>
              <a:rPr lang="en">
                <a:solidFill>
                  <a:schemeClr val="dk1"/>
                </a:solidFill>
              </a:rPr>
              <a:t> We guess the outcome of </a:t>
            </a:r>
            <a:r>
              <a:rPr b="1"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‘jeq’</a:t>
            </a:r>
            <a:r>
              <a:rPr lang="en">
                <a:solidFill>
                  <a:schemeClr val="dk1"/>
                </a:solidFill>
              </a:rPr>
              <a:t> and hope we’re right.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Branch usually taken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Branch usually </a:t>
            </a:r>
            <a:r>
              <a:rPr b="1" lang="en">
                <a:solidFill>
                  <a:schemeClr val="dk1"/>
                </a:solidFill>
              </a:rPr>
              <a:t>not</a:t>
            </a:r>
            <a:r>
              <a:rPr lang="en">
                <a:solidFill>
                  <a:schemeClr val="dk1"/>
                </a:solidFill>
              </a:rPr>
              <a:t> taken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Dynamic Branch Prediction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40"/>
          <p:cNvPicPr preferRelativeResize="0"/>
          <p:nvPr/>
        </p:nvPicPr>
        <p:blipFill rotWithShape="1">
          <a:blip r:embed="rId3">
            <a:alphaModFix/>
          </a:blip>
          <a:srcRect b="26097" l="25068" r="24380" t="31020"/>
          <a:stretch/>
        </p:blipFill>
        <p:spPr>
          <a:xfrm>
            <a:off x="231625" y="0"/>
            <a:ext cx="868075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0"/>
          <p:cNvSpPr txBox="1"/>
          <p:nvPr/>
        </p:nvSpPr>
        <p:spPr>
          <a:xfrm>
            <a:off x="207050" y="1616975"/>
            <a:ext cx="8707500" cy="1639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4" name="Google Shape;214;p40"/>
          <p:cNvSpPr txBox="1"/>
          <p:nvPr/>
        </p:nvSpPr>
        <p:spPr>
          <a:xfrm>
            <a:off x="217700" y="3288225"/>
            <a:ext cx="8707500" cy="1855200"/>
          </a:xfrm>
          <a:prstGeom prst="rect">
            <a:avLst/>
          </a:prstGeom>
          <a:noFill/>
          <a:ln cap="flat" cmpd="sng" w="38100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“Examples”</a:t>
            </a:r>
            <a:endParaRPr sz="4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" type="body"/>
          </p:nvPr>
        </p:nvSpPr>
        <p:spPr>
          <a:xfrm>
            <a:off x="311700" y="456675"/>
            <a:ext cx="8520600" cy="41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2)	Identify all data conflicts/hazards and control hazards for each code fragment. Specify the instructions </a:t>
            </a:r>
            <a:r>
              <a:rPr b="1" i="1" lang="en" sz="2000">
                <a:solidFill>
                  <a:schemeClr val="dk1"/>
                </a:solidFill>
              </a:rPr>
              <a:t>(by line number)</a:t>
            </a:r>
            <a:r>
              <a:rPr b="1" lang="en" sz="2000">
                <a:solidFill>
                  <a:schemeClr val="dk1"/>
                </a:solidFill>
              </a:rPr>
              <a:t> and the shared resource(s):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25" name="Google Shape;225;p42"/>
          <p:cNvSpPr txBox="1"/>
          <p:nvPr/>
        </p:nvSpPr>
        <p:spPr>
          <a:xfrm>
            <a:off x="311700" y="1829875"/>
            <a:ext cx="4204800" cy="30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b)	1. movi $1, 5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addi $1, $1, 20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c)	1. sw $1, 0($4)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movi $5, 40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 sw $2, 0($4)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6" name="Google Shape;226;p42"/>
          <p:cNvSpPr txBox="1"/>
          <p:nvPr/>
        </p:nvSpPr>
        <p:spPr>
          <a:xfrm>
            <a:off x="2578100" y="3742625"/>
            <a:ext cx="6360900" cy="7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 txBox="1"/>
          <p:nvPr/>
        </p:nvSpPr>
        <p:spPr>
          <a:xfrm>
            <a:off x="311700" y="456675"/>
            <a:ext cx="4204800" cy="30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e)	1. 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ovi $1, 50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2. 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</a:t>
            </a: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 $1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4"/>
          <p:cNvSpPr txBox="1"/>
          <p:nvPr>
            <p:ph idx="1" type="body"/>
          </p:nvPr>
        </p:nvSpPr>
        <p:spPr>
          <a:xfrm>
            <a:off x="311700" y="456675"/>
            <a:ext cx="8520600" cy="41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3)	Give all valid reorderings of the code fragments from question 2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37" name="Google Shape;237;p44"/>
          <p:cNvSpPr txBox="1"/>
          <p:nvPr/>
        </p:nvSpPr>
        <p:spPr>
          <a:xfrm>
            <a:off x="311700" y="1372125"/>
            <a:ext cx="4204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b)	1. movi $1, 5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addi $1, $1, 20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c)	1. sw $1, 0($4)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2. movi $5, 40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3. sw $2, 0($4)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5"/>
          <p:cNvSpPr txBox="1"/>
          <p:nvPr>
            <p:ph idx="1" type="body"/>
          </p:nvPr>
        </p:nvSpPr>
        <p:spPr>
          <a:xfrm>
            <a:off x="311700" y="456675"/>
            <a:ext cx="8520600" cy="41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3)	Give all valid reorderings of the code fragments from question 2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43" name="Google Shape;243;p45"/>
          <p:cNvSpPr txBox="1"/>
          <p:nvPr/>
        </p:nvSpPr>
        <p:spPr>
          <a:xfrm>
            <a:off x="311700" y="1372125"/>
            <a:ext cx="4204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e)	1. movi $1, 50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2. jr $1</a:t>
            </a:r>
            <a:endParaRPr b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CPI &amp; Clock Frequency</a:t>
            </a:r>
            <a:endParaRPr/>
          </a:p>
        </p:txBody>
      </p:sp>
      <p:sp>
        <p:nvSpPr>
          <p:cNvPr id="249" name="Google Shape;249;p46"/>
          <p:cNvSpPr txBox="1"/>
          <p:nvPr>
            <p:ph idx="1" type="body"/>
          </p:nvPr>
        </p:nvSpPr>
        <p:spPr>
          <a:xfrm>
            <a:off x="311700" y="1152475"/>
            <a:ext cx="8520600" cy="39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 u="sng">
                <a:solidFill>
                  <a:schemeClr val="dk1"/>
                </a:solidFill>
              </a:rPr>
              <a:t>CPI:</a:t>
            </a:r>
            <a:r>
              <a:rPr lang="en" sz="1900">
                <a:solidFill>
                  <a:schemeClr val="dk1"/>
                </a:solidFill>
              </a:rPr>
              <a:t> “Cycles per Instruction”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" sz="1900" u="sng">
                <a:solidFill>
                  <a:schemeClr val="dk1"/>
                </a:solidFill>
              </a:rPr>
              <a:t>Clock Frequency:</a:t>
            </a:r>
            <a:r>
              <a:rPr lang="en" sz="1900">
                <a:solidFill>
                  <a:schemeClr val="dk1"/>
                </a:solidFill>
              </a:rPr>
              <a:t> “Cycles per Second” (i.e. Hz)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dk1"/>
                </a:solidFill>
              </a:rPr>
              <a:t>Hypothetical Computer (</a:t>
            </a:r>
            <a:r>
              <a:rPr b="1" lang="en" u="sng">
                <a:solidFill>
                  <a:schemeClr val="dk1"/>
                </a:solidFill>
              </a:rPr>
              <a:t>Example</a:t>
            </a:r>
            <a:r>
              <a:rPr b="1" lang="en" u="sng">
                <a:solidFill>
                  <a:schemeClr val="dk1"/>
                </a:solidFill>
              </a:rPr>
              <a:t>)</a:t>
            </a:r>
            <a:r>
              <a:rPr b="1" lang="en" u="sng">
                <a:solidFill>
                  <a:schemeClr val="dk1"/>
                </a:solidFill>
              </a:rPr>
              <a:t>:</a:t>
            </a:r>
            <a:endParaRPr b="1" u="sng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50% of instructions take 1 clock cycle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15% of instructions take 4 clock cycles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lang="en">
                <a:solidFill>
                  <a:srgbClr val="38761D"/>
                </a:solidFill>
              </a:rPr>
              <a:t>35% of instructions take 8 clock cycles</a:t>
            </a:r>
            <a:endParaRPr>
              <a:solidFill>
                <a:srgbClr val="38761D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00"/>
                </a:highlight>
              </a:rPr>
              <a:t>Average CPI</a:t>
            </a:r>
            <a:r>
              <a:rPr b="1" lang="en">
                <a:solidFill>
                  <a:schemeClr val="dk1"/>
                </a:solidFill>
              </a:rPr>
              <a:t> = </a:t>
            </a:r>
            <a:r>
              <a:rPr b="1" lang="en">
                <a:solidFill>
                  <a:srgbClr val="0000FF"/>
                </a:solidFill>
              </a:rPr>
              <a:t>.5 (1 cycle)</a:t>
            </a:r>
            <a:r>
              <a:rPr b="1" lang="en">
                <a:solidFill>
                  <a:schemeClr val="dk1"/>
                </a:solidFill>
              </a:rPr>
              <a:t> + </a:t>
            </a:r>
            <a:r>
              <a:rPr b="1" lang="en">
                <a:solidFill>
                  <a:srgbClr val="FF0000"/>
                </a:solidFill>
              </a:rPr>
              <a:t>.15 (4 cycles)</a:t>
            </a:r>
            <a:r>
              <a:rPr b="1" lang="en">
                <a:solidFill>
                  <a:schemeClr val="dk1"/>
                </a:solidFill>
              </a:rPr>
              <a:t> + </a:t>
            </a:r>
            <a:r>
              <a:rPr b="1" lang="en">
                <a:solidFill>
                  <a:srgbClr val="38761D"/>
                </a:solidFill>
              </a:rPr>
              <a:t>.35 (8 cycles)</a:t>
            </a:r>
            <a:r>
              <a:rPr b="1" lang="en">
                <a:solidFill>
                  <a:schemeClr val="dk1"/>
                </a:solidFill>
              </a:rPr>
              <a:t> = </a:t>
            </a:r>
            <a:r>
              <a:rPr b="1" lang="en">
                <a:solidFill>
                  <a:schemeClr val="dk1"/>
                </a:solidFill>
                <a:highlight>
                  <a:srgbClr val="FFFF00"/>
                </a:highlight>
              </a:rPr>
              <a:t>3.7 CPI</a:t>
            </a:r>
            <a:endParaRPr b="1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7"/>
          <p:cNvSpPr txBox="1"/>
          <p:nvPr>
            <p:ph type="ctrTitle"/>
          </p:nvPr>
        </p:nvSpPr>
        <p:spPr>
          <a:xfrm>
            <a:off x="366933" y="11459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Further Details about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 E20 Pipeline</a:t>
            </a:r>
            <a:endParaRPr sz="4800"/>
          </a:p>
        </p:txBody>
      </p:sp>
      <p:sp>
        <p:nvSpPr>
          <p:cNvPr id="255" name="Google Shape;255;p47"/>
          <p:cNvSpPr txBox="1"/>
          <p:nvPr>
            <p:ph idx="1" type="subTitle"/>
          </p:nvPr>
        </p:nvSpPr>
        <p:spPr>
          <a:xfrm>
            <a:off x="311700" y="3430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rgbClr val="FF0000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i="1" lang="en" sz="1800" u="sng">
                <a:solidFill>
                  <a:srgbClr val="FF0000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Created by former TA </a:t>
            </a:r>
            <a:r>
              <a:rPr i="1" lang="en" sz="1800" u="sng">
                <a:solidFill>
                  <a:srgbClr val="FF0000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Rishyak Panchal and former NYU Professor Jeff Epstein</a:t>
            </a:r>
            <a:endParaRPr i="1" sz="1800" u="sng">
              <a:solidFill>
                <a:srgbClr val="FF0000"/>
              </a:solidFill>
              <a:highlight>
                <a:schemeClr val="accent6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 u="sng">
                <a:solidFill>
                  <a:srgbClr val="FF0000"/>
                </a:solidFill>
                <a:highlight>
                  <a:schemeClr val="accent6"/>
                </a:highlight>
                <a:latin typeface="Comic Sans MS"/>
                <a:ea typeface="Comic Sans MS"/>
                <a:cs typeface="Comic Sans MS"/>
                <a:sym typeface="Comic Sans MS"/>
              </a:rPr>
              <a:t>RIP to both)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 txBox="1"/>
          <p:nvPr>
            <p:ph type="title"/>
          </p:nvPr>
        </p:nvSpPr>
        <p:spPr>
          <a:xfrm>
            <a:off x="311700" y="22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Conflicts</a:t>
            </a:r>
            <a:endParaRPr/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311700" y="895975"/>
            <a:ext cx="8520600" cy="16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Conflicts occur when a pipelined instruction shares the use of a register or memory location with another concurrently in the pipeline. </a:t>
            </a:r>
            <a:endParaRPr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Depending on the processor’s architecture, they can further cause </a:t>
            </a:r>
            <a:r>
              <a:rPr b="1" lang="en" sz="1600"/>
              <a:t>data hazards </a:t>
            </a:r>
            <a:r>
              <a:rPr lang="en" sz="1600"/>
              <a:t>(</a:t>
            </a:r>
            <a:r>
              <a:rPr lang="en" sz="1600"/>
              <a:t>issues with the instruction pipeline that prevent the next instruction from executing in its dedicated clock cycle)</a:t>
            </a:r>
            <a:endParaRPr b="1" sz="16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In E20, we are principally concerned with so-called </a:t>
            </a:r>
            <a:r>
              <a:rPr b="1" lang="en" sz="1600"/>
              <a:t>read-after-write</a:t>
            </a:r>
            <a:r>
              <a:rPr lang="en" sz="1600"/>
              <a:t> dependencies, wherein one instruction attempts to read data before that data has been written.</a:t>
            </a:r>
            <a:endParaRPr sz="1600"/>
          </a:p>
        </p:txBody>
      </p:sp>
      <p:sp>
        <p:nvSpPr>
          <p:cNvPr id="262" name="Google Shape;262;p48"/>
          <p:cNvSpPr txBox="1"/>
          <p:nvPr>
            <p:ph idx="1" type="body"/>
          </p:nvPr>
        </p:nvSpPr>
        <p:spPr>
          <a:xfrm>
            <a:off x="311700" y="3399212"/>
            <a:ext cx="8520600" cy="15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In each of the above three program fragments, the first instruction writes a value, and the second instruction reads the same value. 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The bolded term identifies the conflicted resource. 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Note that in the first two fragments, the conflicted resource is a register, while in the third fragment, the conflicted resource is a memory cell.</a:t>
            </a:r>
            <a:endParaRPr sz="1600"/>
          </a:p>
        </p:txBody>
      </p:sp>
      <p:sp>
        <p:nvSpPr>
          <p:cNvPr id="263" name="Google Shape;263;p48"/>
          <p:cNvSpPr txBox="1"/>
          <p:nvPr>
            <p:ph type="title"/>
          </p:nvPr>
        </p:nvSpPr>
        <p:spPr>
          <a:xfrm>
            <a:off x="1088725" y="2622450"/>
            <a:ext cx="1784100" cy="707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movi </a:t>
            </a:r>
            <a:r>
              <a:rPr b="1" lang="en" sz="1420">
                <a:latin typeface="Source Code Pro"/>
                <a:ea typeface="Source Code Pro"/>
                <a:cs typeface="Source Code Pro"/>
                <a:sym typeface="Source Code Pro"/>
              </a:rPr>
              <a:t>$1</a:t>
            </a: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 $2, $2, </a:t>
            </a:r>
            <a:r>
              <a:rPr b="1" lang="en" sz="1420">
                <a:latin typeface="Source Code Pro"/>
                <a:ea typeface="Source Code Pro"/>
                <a:cs typeface="Source Code Pro"/>
                <a:sym typeface="Source Code Pro"/>
              </a:rPr>
              <a:t>$1</a:t>
            </a:r>
            <a:endParaRPr b="1"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64" name="Google Shape;264;p48"/>
          <p:cNvSpPr txBox="1"/>
          <p:nvPr>
            <p:ph type="title"/>
          </p:nvPr>
        </p:nvSpPr>
        <p:spPr>
          <a:xfrm>
            <a:off x="3679950" y="2622450"/>
            <a:ext cx="1784100" cy="707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lw </a:t>
            </a:r>
            <a:r>
              <a:rPr b="1" lang="en" sz="1420">
                <a:latin typeface="Source Code Pro"/>
                <a:ea typeface="Source Code Pro"/>
                <a:cs typeface="Source Code Pro"/>
                <a:sym typeface="Source Code Pro"/>
              </a:rPr>
              <a:t>$1</a:t>
            </a: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, foo($0)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 $2, $2, </a:t>
            </a:r>
            <a:r>
              <a:rPr b="1" lang="en" sz="1420">
                <a:latin typeface="Source Code Pro"/>
                <a:ea typeface="Source Code Pro"/>
                <a:cs typeface="Source Code Pro"/>
                <a:sym typeface="Source Code Pro"/>
              </a:rPr>
              <a:t>$1</a:t>
            </a:r>
            <a:endParaRPr b="1"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65" name="Google Shape;265;p48"/>
          <p:cNvSpPr txBox="1"/>
          <p:nvPr>
            <p:ph type="title"/>
          </p:nvPr>
        </p:nvSpPr>
        <p:spPr>
          <a:xfrm>
            <a:off x="6271175" y="2622438"/>
            <a:ext cx="1784100" cy="707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sw $1, </a:t>
            </a:r>
            <a:r>
              <a:rPr b="1" lang="en" sz="1420">
                <a:latin typeface="Source Code Pro"/>
                <a:ea typeface="Source Code Pro"/>
                <a:cs typeface="Source Code Pro"/>
                <a:sym typeface="Source Code Pro"/>
              </a:rPr>
              <a:t>foo($0)</a:t>
            </a:r>
            <a:endParaRPr b="1" sz="142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lw $2, </a:t>
            </a:r>
            <a:r>
              <a:rPr b="1" lang="en" sz="1420">
                <a:latin typeface="Source Code Pro"/>
                <a:ea typeface="Source Code Pro"/>
                <a:cs typeface="Source Code Pro"/>
                <a:sym typeface="Source Code Pro"/>
              </a:rPr>
              <a:t>foo($0)</a:t>
            </a:r>
            <a:endParaRPr b="1"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9"/>
          <p:cNvSpPr txBox="1"/>
          <p:nvPr>
            <p:ph type="title"/>
          </p:nvPr>
        </p:nvSpPr>
        <p:spPr>
          <a:xfrm>
            <a:off x="311700" y="22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Conflicts</a:t>
            </a:r>
            <a:endParaRPr/>
          </a:p>
        </p:txBody>
      </p:sp>
      <p:sp>
        <p:nvSpPr>
          <p:cNvPr id="271" name="Google Shape;271;p49"/>
          <p:cNvSpPr txBox="1"/>
          <p:nvPr>
            <p:ph idx="1" type="body"/>
          </p:nvPr>
        </p:nvSpPr>
        <p:spPr>
          <a:xfrm>
            <a:off x="311700" y="895975"/>
            <a:ext cx="85206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data conflicts: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i="1" lang="en"/>
              <a:t>Write-after-read</a:t>
            </a:r>
            <a:r>
              <a:rPr lang="en"/>
              <a:t> conflict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addi $1, </a:t>
            </a: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$2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1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addi </a:t>
            </a: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$2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$3, 1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This is a conflict, but is a concern only when instructions are potentially re-ordered.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i="1" lang="en"/>
              <a:t>Write-after-write</a:t>
            </a:r>
            <a:r>
              <a:rPr lang="en"/>
              <a:t> conflict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addi </a:t>
            </a: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$1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$2, 1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addi </a:t>
            </a: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$1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$3, 1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This is a conflict, but is a concern only when instructions are potentially re-ordered.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i="1" lang="en"/>
              <a:t>Read-after-read </a:t>
            </a:r>
            <a:r>
              <a:rPr b="1" lang="en"/>
              <a:t>non-conflict</a:t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addi $1, </a:t>
            </a: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$2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1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addi $3, </a:t>
            </a:r>
            <a:r>
              <a:rPr b="1" lang="en">
                <a:latin typeface="Source Code Pro"/>
                <a:ea typeface="Source Code Pro"/>
                <a:cs typeface="Source Code Pro"/>
                <a:sym typeface="Source Code Pro"/>
              </a:rPr>
              <a:t>$2</a:t>
            </a:r>
            <a:r>
              <a:rPr lang="en">
                <a:latin typeface="Source Code Pro"/>
                <a:ea typeface="Source Code Pro"/>
                <a:cs typeface="Source Code Pro"/>
                <a:sym typeface="Source Code Pro"/>
              </a:rPr>
              <a:t>, 1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This is not a conflict, and cannot cause a hazard. </a:t>
            </a:r>
            <a:endParaRPr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Instructions may read the same value without conflicting.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" name="Google Shape;276;p50"/>
          <p:cNvGraphicFramePr/>
          <p:nvPr/>
        </p:nvGraphicFramePr>
        <p:xfrm>
          <a:off x="290100" y="15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679850"/>
                <a:gridCol w="1576775"/>
                <a:gridCol w="1576775"/>
                <a:gridCol w="1576775"/>
                <a:gridCol w="1576775"/>
                <a:gridCol w="1576775"/>
              </a:tblGrid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IF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</a:t>
                      </a: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nop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7" name="Google Shape;277;p50"/>
          <p:cNvSpPr txBox="1"/>
          <p:nvPr>
            <p:ph type="title"/>
          </p:nvPr>
        </p:nvSpPr>
        <p:spPr>
          <a:xfrm>
            <a:off x="290100" y="714475"/>
            <a:ext cx="1784100" cy="7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$0,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$1,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8" name="Google Shape;278;p50"/>
          <p:cNvSpPr txBox="1"/>
          <p:nvPr>
            <p:ph type="title"/>
          </p:nvPr>
        </p:nvSpPr>
        <p:spPr>
          <a:xfrm>
            <a:off x="311700" y="116450"/>
            <a:ext cx="85422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/>
              <a:t>Solution One:</a:t>
            </a:r>
            <a:r>
              <a:rPr lang="en" sz="2020"/>
              <a:t> Stall the processor by inserting bubbles </a:t>
            </a:r>
            <a:endParaRPr sz="2020"/>
          </a:p>
        </p:txBody>
      </p:sp>
      <p:graphicFrame>
        <p:nvGraphicFramePr>
          <p:cNvPr id="279" name="Google Shape;279;p50"/>
          <p:cNvGraphicFramePr/>
          <p:nvPr/>
        </p:nvGraphicFramePr>
        <p:xfrm>
          <a:off x="3003825" y="67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731250"/>
                <a:gridCol w="731250"/>
                <a:gridCol w="731250"/>
                <a:gridCol w="731250"/>
                <a:gridCol w="731250"/>
                <a:gridCol w="731250"/>
                <a:gridCol w="731250"/>
                <a:gridCol w="731250"/>
              </a:tblGrid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1"/>
          <p:cNvSpPr txBox="1"/>
          <p:nvPr>
            <p:ph type="title"/>
          </p:nvPr>
        </p:nvSpPr>
        <p:spPr>
          <a:xfrm>
            <a:off x="311700" y="22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Reordering Instructions</a:t>
            </a:r>
            <a:endParaRPr/>
          </a:p>
        </p:txBody>
      </p:sp>
      <p:sp>
        <p:nvSpPr>
          <p:cNvPr id="285" name="Google Shape;285;p51"/>
          <p:cNvSpPr txBox="1"/>
          <p:nvPr>
            <p:ph idx="1" type="body"/>
          </p:nvPr>
        </p:nvSpPr>
        <p:spPr>
          <a:xfrm>
            <a:off x="311700" y="795725"/>
            <a:ext cx="8520600" cy="42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Sometimes we can avoid stalls by reordering instructions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Manually, by the programmer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Automatically, by the compiler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Automatically, by the processor (aka. </a:t>
            </a:r>
            <a:r>
              <a:rPr i="1" lang="en"/>
              <a:t>out-of-order</a:t>
            </a:r>
            <a:r>
              <a:rPr lang="en"/>
              <a:t> execution)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Consider the following program: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There is a conflict between the first two instructions that could cause a stall of 3 cycles, while instruction 1 finishes WB and instruction 2 enters ID.</a:t>
            </a:r>
            <a:endParaRPr sz="1400"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Now consider this version: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The program produces identical results, but completes one cycle sooner. </a:t>
            </a:r>
            <a:endParaRPr sz="1400"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Draw the cycle execution table to convince yourself of this fact.</a:t>
            </a:r>
            <a:endParaRPr sz="1400">
              <a:highlight>
                <a:srgbClr val="FFFFFF"/>
              </a:highlight>
            </a:endParaRPr>
          </a:p>
        </p:txBody>
      </p:sp>
      <p:sp>
        <p:nvSpPr>
          <p:cNvPr id="286" name="Google Shape;286;p51"/>
          <p:cNvSpPr txBox="1"/>
          <p:nvPr>
            <p:ph type="title"/>
          </p:nvPr>
        </p:nvSpPr>
        <p:spPr>
          <a:xfrm>
            <a:off x="3606513" y="2007625"/>
            <a:ext cx="2061600" cy="707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1. movi $1, 5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2. add $2, $2, $1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3. add $3, $3, $3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87" name="Google Shape;287;p51"/>
          <p:cNvSpPr txBox="1"/>
          <p:nvPr>
            <p:ph type="title"/>
          </p:nvPr>
        </p:nvSpPr>
        <p:spPr>
          <a:xfrm>
            <a:off x="3164263" y="3458975"/>
            <a:ext cx="2061600" cy="707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1. movi $1, 5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3. add $3, $3, $3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2. add $2, $2, $1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2"/>
          <p:cNvSpPr txBox="1"/>
          <p:nvPr>
            <p:ph type="title"/>
          </p:nvPr>
        </p:nvSpPr>
        <p:spPr>
          <a:xfrm>
            <a:off x="1561150" y="252375"/>
            <a:ext cx="2061600" cy="707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1. movi $1, 5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2. add $2, $2, $1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3. add $3, $3, $3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93" name="Google Shape;293;p52"/>
          <p:cNvSpPr txBox="1"/>
          <p:nvPr>
            <p:ph type="title"/>
          </p:nvPr>
        </p:nvSpPr>
        <p:spPr>
          <a:xfrm>
            <a:off x="5521225" y="252375"/>
            <a:ext cx="2061600" cy="707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1. movi $1, 5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3. add $3, $3, $3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2. add $2, $2, $1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294" name="Google Shape;294;p52"/>
          <p:cNvGraphicFramePr/>
          <p:nvPr/>
        </p:nvGraphicFramePr>
        <p:xfrm>
          <a:off x="1561163" y="105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412325"/>
                <a:gridCol w="412325"/>
                <a:gridCol w="412325"/>
                <a:gridCol w="412325"/>
                <a:gridCol w="412325"/>
              </a:tblGrid>
              <a:tr h="2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95" name="Google Shape;295;p52"/>
          <p:cNvGraphicFramePr/>
          <p:nvPr/>
        </p:nvGraphicFramePr>
        <p:xfrm>
          <a:off x="5521213" y="105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412325"/>
                <a:gridCol w="412325"/>
                <a:gridCol w="412325"/>
                <a:gridCol w="412325"/>
                <a:gridCol w="412325"/>
              </a:tblGrid>
              <a:tr h="35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6" name="Google Shape;296;p52"/>
          <p:cNvSpPr txBox="1"/>
          <p:nvPr/>
        </p:nvSpPr>
        <p:spPr>
          <a:xfrm>
            <a:off x="5991038" y="4569813"/>
            <a:ext cx="11220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 Cycles</a:t>
            </a:r>
            <a:endParaRPr/>
          </a:p>
        </p:txBody>
      </p:sp>
      <p:sp>
        <p:nvSpPr>
          <p:cNvPr id="297" name="Google Shape;297;p52"/>
          <p:cNvSpPr txBox="1"/>
          <p:nvPr/>
        </p:nvSpPr>
        <p:spPr>
          <a:xfrm>
            <a:off x="2030975" y="4569813"/>
            <a:ext cx="11220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Cycles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3"/>
          <p:cNvSpPr txBox="1"/>
          <p:nvPr>
            <p:ph type="title"/>
          </p:nvPr>
        </p:nvSpPr>
        <p:spPr>
          <a:xfrm>
            <a:off x="311700" y="146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Reordering is tricky</a:t>
            </a:r>
            <a:endParaRPr/>
          </a:p>
        </p:txBody>
      </p:sp>
      <p:sp>
        <p:nvSpPr>
          <p:cNvPr id="303" name="Google Shape;303;p53"/>
          <p:cNvSpPr txBox="1"/>
          <p:nvPr>
            <p:ph idx="1" type="body"/>
          </p:nvPr>
        </p:nvSpPr>
        <p:spPr>
          <a:xfrm>
            <a:off x="311700" y="719525"/>
            <a:ext cx="8520600" cy="40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We must be careful that the reordered program produces the correct result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Consider the following: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There is a read-after-write hazard on $1, which could cause a stall. </a:t>
            </a:r>
            <a:endParaRPr sz="1400"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So, let's reorder the code like this: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We no longer have a read-after-write hazard, and can therefore avoid a stall. BUT this reordering is an </a:t>
            </a:r>
            <a:r>
              <a:rPr i="1" lang="en" sz="1400">
                <a:highlight>
                  <a:srgbClr val="FFFFFF"/>
                </a:highlight>
              </a:rPr>
              <a:t>invalid transformation</a:t>
            </a:r>
            <a:r>
              <a:rPr lang="en" sz="1400">
                <a:highlight>
                  <a:srgbClr val="FFFFFF"/>
                </a:highlight>
              </a:rPr>
              <a:t>: it produces a different result than the original. A principal policy of reordering instructions is that the new version must produce identical results as the original. 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To prevent an invalid transformation, we should abide by this rule:</a:t>
            </a:r>
            <a:endParaRPr sz="1400"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rgbClr val="FFFFFF"/>
                </a:highlight>
              </a:rPr>
              <a:t>Never change the relative order of two instructions that have a conflict, </a:t>
            </a:r>
            <a:endParaRPr b="1" sz="1400"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rgbClr val="FFFFFF"/>
                </a:highlight>
              </a:rPr>
              <a:t>including read-after-write, write-after-write, and write-after-read.</a:t>
            </a:r>
            <a:endParaRPr b="1"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In this case, the read-after-write hazard prevents us from reordering them.</a:t>
            </a:r>
            <a:endParaRPr sz="1400">
              <a:highlight>
                <a:srgbClr val="FFFFFF"/>
              </a:highlight>
            </a:endParaRPr>
          </a:p>
        </p:txBody>
      </p:sp>
      <p:sp>
        <p:nvSpPr>
          <p:cNvPr id="304" name="Google Shape;304;p53"/>
          <p:cNvSpPr txBox="1"/>
          <p:nvPr>
            <p:ph type="title"/>
          </p:nvPr>
        </p:nvSpPr>
        <p:spPr>
          <a:xfrm>
            <a:off x="2759400" y="1065631"/>
            <a:ext cx="2061600" cy="602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1. movi $1, 5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2. add $2, $2, $1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631425" y="2057306"/>
            <a:ext cx="2061600" cy="6024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2. add $2, $2, $1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1. movi $1, 5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" name="Google Shape;310;p54"/>
          <p:cNvGraphicFramePr/>
          <p:nvPr/>
        </p:nvGraphicFramePr>
        <p:xfrm>
          <a:off x="290100" y="158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679850"/>
                <a:gridCol w="1576775"/>
                <a:gridCol w="1576775"/>
                <a:gridCol w="1576775"/>
                <a:gridCol w="1576775"/>
                <a:gridCol w="1576775"/>
              </a:tblGrid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IF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EXEC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MEM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WB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$0,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addi $1, $1, 1</a:t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1" name="Google Shape;311;p54"/>
          <p:cNvSpPr txBox="1"/>
          <p:nvPr>
            <p:ph type="title"/>
          </p:nvPr>
        </p:nvSpPr>
        <p:spPr>
          <a:xfrm>
            <a:off x="290100" y="714475"/>
            <a:ext cx="1784100" cy="70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$0,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420">
                <a:latin typeface="Source Code Pro"/>
                <a:ea typeface="Source Code Pro"/>
                <a:cs typeface="Source Code Pro"/>
                <a:sym typeface="Source Code Pro"/>
              </a:rPr>
              <a:t>addi $1, $1, 1</a:t>
            </a:r>
            <a:endParaRPr sz="142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12" name="Google Shape;312;p54"/>
          <p:cNvSpPr txBox="1"/>
          <p:nvPr>
            <p:ph type="title"/>
          </p:nvPr>
        </p:nvSpPr>
        <p:spPr>
          <a:xfrm>
            <a:off x="311700" y="116450"/>
            <a:ext cx="8542200" cy="43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020"/>
              <a:t>Solution Two:</a:t>
            </a:r>
            <a:r>
              <a:rPr lang="en" sz="2020"/>
              <a:t> Forwarding </a:t>
            </a:r>
            <a:r>
              <a:rPr lang="en" sz="2020">
                <a:solidFill>
                  <a:srgbClr val="FF0000"/>
                </a:solidFill>
              </a:rPr>
              <a:t>(NOTE: We don’t really cover this in HW/Rec)</a:t>
            </a:r>
            <a:endParaRPr sz="2020">
              <a:solidFill>
                <a:srgbClr val="FF0000"/>
              </a:solidFill>
            </a:endParaRPr>
          </a:p>
        </p:txBody>
      </p:sp>
      <p:graphicFrame>
        <p:nvGraphicFramePr>
          <p:cNvPr id="313" name="Google Shape;313;p54"/>
          <p:cNvGraphicFramePr/>
          <p:nvPr/>
        </p:nvGraphicFramePr>
        <p:xfrm>
          <a:off x="3003825" y="671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{57BD6E07-8428-4217-ACE7-A19954911CBF}</a:tableStyleId>
              </a:tblPr>
              <a:tblGrid>
                <a:gridCol w="731250"/>
                <a:gridCol w="731250"/>
                <a:gridCol w="731250"/>
                <a:gridCol w="731250"/>
                <a:gridCol w="731250"/>
                <a:gridCol w="731250"/>
                <a:gridCol w="731250"/>
                <a:gridCol w="731250"/>
              </a:tblGrid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$7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14" name="Google Shape;314;p54"/>
          <p:cNvGrpSpPr/>
          <p:nvPr/>
        </p:nvGrpSpPr>
        <p:grpSpPr>
          <a:xfrm>
            <a:off x="4030150" y="3076438"/>
            <a:ext cx="1806300" cy="249813"/>
            <a:chOff x="4080000" y="3076438"/>
            <a:chExt cx="1806300" cy="249813"/>
          </a:xfrm>
        </p:grpSpPr>
        <p:cxnSp>
          <p:nvCxnSpPr>
            <p:cNvPr id="315" name="Google Shape;315;p54"/>
            <p:cNvCxnSpPr/>
            <p:nvPr/>
          </p:nvCxnSpPr>
          <p:spPr>
            <a:xfrm>
              <a:off x="5646825" y="3076438"/>
              <a:ext cx="227100" cy="63000"/>
            </a:xfrm>
            <a:prstGeom prst="straightConnector1">
              <a:avLst/>
            </a:prstGeom>
            <a:noFill/>
            <a:ln cap="flat" cmpd="sng" w="19050">
              <a:solidFill>
                <a:srgbClr val="4A86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6" name="Google Shape;316;p54"/>
            <p:cNvCxnSpPr/>
            <p:nvPr/>
          </p:nvCxnSpPr>
          <p:spPr>
            <a:xfrm flipH="1">
              <a:off x="4080000" y="3139350"/>
              <a:ext cx="1806300" cy="124500"/>
            </a:xfrm>
            <a:prstGeom prst="straightConnector1">
              <a:avLst/>
            </a:prstGeom>
            <a:noFill/>
            <a:ln cap="flat" cmpd="sng" w="19050">
              <a:solidFill>
                <a:srgbClr val="4A86E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7" name="Google Shape;317;p54"/>
            <p:cNvCxnSpPr/>
            <p:nvPr/>
          </p:nvCxnSpPr>
          <p:spPr>
            <a:xfrm>
              <a:off x="4080000" y="3263850"/>
              <a:ext cx="230400" cy="62400"/>
            </a:xfrm>
            <a:prstGeom prst="straightConnector1">
              <a:avLst/>
            </a:prstGeom>
            <a:noFill/>
            <a:ln cap="flat" cmpd="sng" w="19050">
              <a:solidFill>
                <a:srgbClr val="4A86E8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5"/>
          <p:cNvSpPr txBox="1"/>
          <p:nvPr>
            <p:ph type="title"/>
          </p:nvPr>
        </p:nvSpPr>
        <p:spPr>
          <a:xfrm>
            <a:off x="311700" y="22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Hazards</a:t>
            </a:r>
            <a:endParaRPr/>
          </a:p>
        </p:txBody>
      </p:sp>
      <p:sp>
        <p:nvSpPr>
          <p:cNvPr id="323" name="Google Shape;323;p55"/>
          <p:cNvSpPr txBox="1"/>
          <p:nvPr>
            <p:ph idx="1" type="body"/>
          </p:nvPr>
        </p:nvSpPr>
        <p:spPr>
          <a:xfrm>
            <a:off x="311700" y="895975"/>
            <a:ext cx="85206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Control Hazards occur when a pipelined instruction makes a wrong decision in branch prediction, causing some partially executed instructions to be discarded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Assume that we have a processor that always predicts branch-not-token, i.e. the processor will pipeline the instruction immediately subsequent to a conditional jump (aka.</a:t>
            </a:r>
            <a:r>
              <a:rPr b="1" lang="en" sz="1400">
                <a:highlight>
                  <a:srgbClr val="FFFFFF"/>
                </a:highlight>
              </a:rPr>
              <a:t> static branch prediction</a:t>
            </a:r>
            <a:r>
              <a:rPr lang="en" sz="1400">
                <a:highlight>
                  <a:srgbClr val="FFFFFF"/>
                </a:highlight>
              </a:rPr>
              <a:t>)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In the following program, the processor will pipeline </a:t>
            </a:r>
            <a:r>
              <a:rPr lang="en" sz="14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add $2, $2, $2</a:t>
            </a:r>
            <a:r>
              <a:rPr lang="en" sz="1400">
                <a:highlight>
                  <a:srgbClr val="FFFFFF"/>
                </a:highlight>
              </a:rPr>
              <a:t>, even though that instruction will not be executed. Its partial execution must therefore be discarded.</a:t>
            </a:r>
            <a:endParaRPr sz="1400"/>
          </a:p>
        </p:txBody>
      </p:sp>
      <p:sp>
        <p:nvSpPr>
          <p:cNvPr id="324" name="Google Shape;324;p55"/>
          <p:cNvSpPr txBox="1"/>
          <p:nvPr>
            <p:ph type="title"/>
          </p:nvPr>
        </p:nvSpPr>
        <p:spPr>
          <a:xfrm>
            <a:off x="3111300" y="2889400"/>
            <a:ext cx="2921400" cy="1393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movi $1, 0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jeq $1, $0, somewhere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add $2, $2, $2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somewhere: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urce Code Pro"/>
                <a:ea typeface="Source Code Pro"/>
                <a:cs typeface="Source Code Pro"/>
                <a:sym typeface="Source Code Pro"/>
              </a:rPr>
              <a:t>	add $3, $3, $3</a:t>
            </a:r>
            <a:endParaRPr sz="14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6"/>
          <p:cNvSpPr txBox="1"/>
          <p:nvPr>
            <p:ph type="title"/>
          </p:nvPr>
        </p:nvSpPr>
        <p:spPr>
          <a:xfrm>
            <a:off x="311700" y="22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Hazards</a:t>
            </a:r>
            <a:endParaRPr/>
          </a:p>
        </p:txBody>
      </p:sp>
      <p:sp>
        <p:nvSpPr>
          <p:cNvPr id="330" name="Google Shape;330;p56"/>
          <p:cNvSpPr txBox="1"/>
          <p:nvPr>
            <p:ph idx="1" type="body"/>
          </p:nvPr>
        </p:nvSpPr>
        <p:spPr>
          <a:xfrm>
            <a:off x="311700" y="895975"/>
            <a:ext cx="8520600" cy="37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What specifically causes control hazards depends on the processor’s branch prediction logic. Sophisticated processors </a:t>
            </a:r>
            <a:r>
              <a:rPr lang="en" sz="1400">
                <a:highlight>
                  <a:srgbClr val="FFFFFF"/>
                </a:highlight>
              </a:rPr>
              <a:t>will use clever techniques to reduce wrong prediction and therefore reduce control hazards.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For example, consider a processor that predicts branches in a loop based on the decision taken in the previous iteration (aka. </a:t>
            </a:r>
            <a:r>
              <a:rPr b="1" lang="en" sz="1400">
                <a:highlight>
                  <a:srgbClr val="FFFFFF"/>
                </a:highlight>
              </a:rPr>
              <a:t>dynamic branch prediction</a:t>
            </a:r>
            <a:r>
              <a:rPr lang="en" sz="1400">
                <a:highlight>
                  <a:srgbClr val="FFFFFF"/>
                </a:highlight>
              </a:rPr>
              <a:t>).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highlight>
                  <a:srgbClr val="FFFFFF"/>
                </a:highlight>
              </a:rPr>
              <a:t>Another</a:t>
            </a:r>
            <a:r>
              <a:rPr lang="en" sz="1400">
                <a:highlight>
                  <a:srgbClr val="FFFFFF"/>
                </a:highlight>
              </a:rPr>
              <a:t> way of thinking about control hazards: </a:t>
            </a:r>
            <a:endParaRPr sz="1400"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highlight>
                  <a:srgbClr val="FFFFFF"/>
                </a:highlight>
              </a:rPr>
              <a:t>A control hazard is a </a:t>
            </a:r>
            <a:r>
              <a:rPr b="1" lang="en" sz="1400">
                <a:highlight>
                  <a:srgbClr val="FFFFFF"/>
                </a:highlight>
              </a:rPr>
              <a:t>read-after-write data hazard</a:t>
            </a:r>
            <a:r>
              <a:rPr lang="en" sz="1400">
                <a:highlight>
                  <a:srgbClr val="FFFFFF"/>
                </a:highlight>
              </a:rPr>
              <a:t>, with the special property of occurring on the program counter, rather than on a regular register or memory address.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7"/>
          <p:cNvSpPr txBox="1"/>
          <p:nvPr>
            <p:ph type="title"/>
          </p:nvPr>
        </p:nvSpPr>
        <p:spPr>
          <a:xfrm>
            <a:off x="311700" y="22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Prediction and Speculative Execution</a:t>
            </a:r>
            <a:endParaRPr/>
          </a:p>
        </p:txBody>
      </p:sp>
      <p:sp>
        <p:nvSpPr>
          <p:cNvPr id="336" name="Google Shape;336;p57"/>
          <p:cNvSpPr txBox="1"/>
          <p:nvPr>
            <p:ph idx="1" type="body"/>
          </p:nvPr>
        </p:nvSpPr>
        <p:spPr>
          <a:xfrm>
            <a:off x="311700" y="895975"/>
            <a:ext cx="8520600" cy="5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Consider two programs:</a:t>
            </a:r>
            <a:endParaRPr sz="1400"/>
          </a:p>
        </p:txBody>
      </p:sp>
      <p:sp>
        <p:nvSpPr>
          <p:cNvPr id="337" name="Google Shape;337;p57"/>
          <p:cNvSpPr txBox="1"/>
          <p:nvPr>
            <p:ph idx="1" type="body"/>
          </p:nvPr>
        </p:nvSpPr>
        <p:spPr>
          <a:xfrm>
            <a:off x="311700" y="3437625"/>
            <a:ext cx="8520600" cy="5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is the best branch prediction strategy to maximise correct predictions? </a:t>
            </a:r>
            <a:endParaRPr/>
          </a:p>
        </p:txBody>
      </p:sp>
      <p:sp>
        <p:nvSpPr>
          <p:cNvPr id="338" name="Google Shape;338;p57"/>
          <p:cNvSpPr txBox="1"/>
          <p:nvPr>
            <p:ph type="title"/>
          </p:nvPr>
        </p:nvSpPr>
        <p:spPr>
          <a:xfrm>
            <a:off x="1899825" y="1255375"/>
            <a:ext cx="2124000" cy="1612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movi $1, 50 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loop: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jeq $1, $0, done</a:t>
            </a:r>
            <a:endParaRPr b="1"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addi $1, $1, -1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 loop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done: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halt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39" name="Google Shape;339;p57"/>
          <p:cNvSpPr txBox="1"/>
          <p:nvPr>
            <p:ph type="title"/>
          </p:nvPr>
        </p:nvSpPr>
        <p:spPr>
          <a:xfrm>
            <a:off x="5120150" y="1255377"/>
            <a:ext cx="2124000" cy="1612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movi $1, 50 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loop: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addi $1, $1, -1 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slti $2, $1, 1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jeq $2, $0, loop</a:t>
            </a:r>
            <a:endParaRPr b="1"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halt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8"/>
          <p:cNvSpPr txBox="1"/>
          <p:nvPr>
            <p:ph type="title"/>
          </p:nvPr>
        </p:nvSpPr>
        <p:spPr>
          <a:xfrm>
            <a:off x="311700" y="22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Prediction and Speculative Execution</a:t>
            </a:r>
            <a:endParaRPr/>
          </a:p>
        </p:txBody>
      </p:sp>
      <p:sp>
        <p:nvSpPr>
          <p:cNvPr id="345" name="Google Shape;345;p58"/>
          <p:cNvSpPr txBox="1"/>
          <p:nvPr>
            <p:ph idx="1" type="body"/>
          </p:nvPr>
        </p:nvSpPr>
        <p:spPr>
          <a:xfrm>
            <a:off x="311700" y="895975"/>
            <a:ext cx="8520600" cy="5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Consider two programs:</a:t>
            </a:r>
            <a:endParaRPr sz="1400"/>
          </a:p>
        </p:txBody>
      </p:sp>
      <p:sp>
        <p:nvSpPr>
          <p:cNvPr id="346" name="Google Shape;346;p58"/>
          <p:cNvSpPr txBox="1"/>
          <p:nvPr>
            <p:ph type="title"/>
          </p:nvPr>
        </p:nvSpPr>
        <p:spPr>
          <a:xfrm>
            <a:off x="1899825" y="3276450"/>
            <a:ext cx="2124000" cy="1612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No branch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No branch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No branch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 . .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Branch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halt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47" name="Google Shape;347;p58"/>
          <p:cNvSpPr txBox="1"/>
          <p:nvPr>
            <p:ph type="title"/>
          </p:nvPr>
        </p:nvSpPr>
        <p:spPr>
          <a:xfrm>
            <a:off x="5120150" y="3276452"/>
            <a:ext cx="2124000" cy="1612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Branch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Branch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Branch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. . .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No branch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halt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48" name="Google Shape;348;p58"/>
          <p:cNvSpPr txBox="1"/>
          <p:nvPr>
            <p:ph type="title"/>
          </p:nvPr>
        </p:nvSpPr>
        <p:spPr>
          <a:xfrm>
            <a:off x="1899825" y="1255375"/>
            <a:ext cx="2124000" cy="1612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movi $1, 50 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loop: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jeq $1, $0, done</a:t>
            </a:r>
            <a:endParaRPr b="1"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addi $1, $1, -1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 loop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done: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halt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49" name="Google Shape;349;p58"/>
          <p:cNvSpPr txBox="1"/>
          <p:nvPr>
            <p:ph type="title"/>
          </p:nvPr>
        </p:nvSpPr>
        <p:spPr>
          <a:xfrm>
            <a:off x="5120150" y="1255377"/>
            <a:ext cx="2124000" cy="1612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movi $1, 50 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loop: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addi $1, $1, -1 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slti $2, $1, 1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jeq $2, $0, loop</a:t>
            </a:r>
            <a:endParaRPr b="1"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halt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50" name="Google Shape;350;p58"/>
          <p:cNvSpPr txBox="1"/>
          <p:nvPr/>
        </p:nvSpPr>
        <p:spPr>
          <a:xfrm>
            <a:off x="1737825" y="2888721"/>
            <a:ext cx="24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Branch is usually </a:t>
            </a:r>
            <a:r>
              <a:rPr b="1" lang="en" sz="1200"/>
              <a:t>NOT</a:t>
            </a:r>
            <a:r>
              <a:rPr lang="en" sz="1200"/>
              <a:t> taken</a:t>
            </a:r>
            <a:endParaRPr sz="1200"/>
          </a:p>
        </p:txBody>
      </p:sp>
      <p:sp>
        <p:nvSpPr>
          <p:cNvPr id="351" name="Google Shape;351;p58"/>
          <p:cNvSpPr txBox="1"/>
          <p:nvPr/>
        </p:nvSpPr>
        <p:spPr>
          <a:xfrm>
            <a:off x="4958150" y="2888721"/>
            <a:ext cx="24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Branch is usually taken</a:t>
            </a:r>
            <a:endParaRPr sz="12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9"/>
          <p:cNvSpPr txBox="1"/>
          <p:nvPr>
            <p:ph type="title"/>
          </p:nvPr>
        </p:nvSpPr>
        <p:spPr>
          <a:xfrm>
            <a:off x="311700" y="223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Branch Prediction and Speculative Execution</a:t>
            </a:r>
            <a:endParaRPr/>
          </a:p>
        </p:txBody>
      </p:sp>
      <p:sp>
        <p:nvSpPr>
          <p:cNvPr id="357" name="Google Shape;357;p59"/>
          <p:cNvSpPr txBox="1"/>
          <p:nvPr>
            <p:ph idx="1" type="body"/>
          </p:nvPr>
        </p:nvSpPr>
        <p:spPr>
          <a:xfrm>
            <a:off x="311700" y="895975"/>
            <a:ext cx="8520600" cy="51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Consider two programs:</a:t>
            </a:r>
            <a:endParaRPr sz="1400"/>
          </a:p>
        </p:txBody>
      </p:sp>
      <p:sp>
        <p:nvSpPr>
          <p:cNvPr id="358" name="Google Shape;358;p59"/>
          <p:cNvSpPr txBox="1"/>
          <p:nvPr>
            <p:ph type="title"/>
          </p:nvPr>
        </p:nvSpPr>
        <p:spPr>
          <a:xfrm>
            <a:off x="1899825" y="1255375"/>
            <a:ext cx="2124000" cy="1612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movi $1, 50 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loop: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jeq $1, $0, done</a:t>
            </a:r>
            <a:endParaRPr b="1"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addi $1, $1, -1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 loop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done: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halt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59" name="Google Shape;359;p59"/>
          <p:cNvSpPr txBox="1"/>
          <p:nvPr>
            <p:ph type="title"/>
          </p:nvPr>
        </p:nvSpPr>
        <p:spPr>
          <a:xfrm>
            <a:off x="5120150" y="1255377"/>
            <a:ext cx="2124000" cy="1612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movi $1, 50 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loop: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addi $1, $1, -1 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slti $2, $1, 1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jeq $2, $0, loop</a:t>
            </a:r>
            <a:endParaRPr b="1"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FFFFFF"/>
                </a:highlight>
                <a:latin typeface="Source Code Pro"/>
                <a:ea typeface="Source Code Pro"/>
                <a:cs typeface="Source Code Pro"/>
                <a:sym typeface="Source Code Pro"/>
              </a:rPr>
              <a:t>halt</a:t>
            </a:r>
            <a:endParaRPr sz="1200">
              <a:highlight>
                <a:srgbClr val="FFFFFF"/>
              </a:highlight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60" name="Google Shape;360;p59"/>
          <p:cNvSpPr txBox="1"/>
          <p:nvPr/>
        </p:nvSpPr>
        <p:spPr>
          <a:xfrm>
            <a:off x="1737825" y="2812521"/>
            <a:ext cx="24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Branch is usually </a:t>
            </a:r>
            <a:r>
              <a:rPr b="1" lang="en" sz="1200"/>
              <a:t>NOT</a:t>
            </a:r>
            <a:r>
              <a:rPr lang="en" sz="1200"/>
              <a:t> taken</a:t>
            </a:r>
            <a:endParaRPr sz="1200"/>
          </a:p>
        </p:txBody>
      </p:sp>
      <p:sp>
        <p:nvSpPr>
          <p:cNvPr id="361" name="Google Shape;361;p59"/>
          <p:cNvSpPr txBox="1"/>
          <p:nvPr/>
        </p:nvSpPr>
        <p:spPr>
          <a:xfrm>
            <a:off x="4958150" y="2812521"/>
            <a:ext cx="24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Branch is usually taken</a:t>
            </a:r>
            <a:endParaRPr sz="1200"/>
          </a:p>
        </p:txBody>
      </p:sp>
      <p:sp>
        <p:nvSpPr>
          <p:cNvPr id="362" name="Google Shape;362;p59"/>
          <p:cNvSpPr txBox="1"/>
          <p:nvPr>
            <p:ph idx="1" type="body"/>
          </p:nvPr>
        </p:nvSpPr>
        <p:spPr>
          <a:xfrm>
            <a:off x="311700" y="3257700"/>
            <a:ext cx="8520600" cy="17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en" sz="1400">
                <a:highlight>
                  <a:srgbClr val="FFFFFF"/>
                </a:highlight>
              </a:rPr>
              <a:t>Let's predict branch if the instruction branched last time. 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400">
                <a:highlight>
                  <a:srgbClr val="FFFFFF"/>
                </a:highlight>
              </a:rPr>
              <a:t>Let's predict predict no branch if the instruction didn't branch last time.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00">
                <a:highlight>
                  <a:srgbClr val="FFFFFF"/>
                </a:highlight>
              </a:rPr>
              <a:t>For loops, this will usually be right. This is an an example of dynamic  branch prediction.</a:t>
            </a:r>
            <a:endParaRPr sz="140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rPr lang="en" sz="1400">
                <a:highlight>
                  <a:srgbClr val="FFFFFF"/>
                </a:highlight>
              </a:rPr>
              <a:t>We maintain a special 1-bit register for each jeq instruction. Each time we execute the jeq, we store 1 if it branched (taken), 0 if it didn't (not taken). We use this value to predict branching or non-branching in the next iteration. This is called a </a:t>
            </a:r>
            <a:r>
              <a:rPr b="1" lang="en" sz="1400">
                <a:highlight>
                  <a:srgbClr val="FFFFFF"/>
                </a:highlight>
              </a:rPr>
              <a:t>One-Level Branch Predictor</a:t>
            </a:r>
            <a:r>
              <a:rPr lang="en" sz="1400">
                <a:highlight>
                  <a:srgbClr val="FFFFFF"/>
                </a:highlight>
              </a:rPr>
              <a:t>.</a:t>
            </a:r>
            <a:endParaRPr sz="1400"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